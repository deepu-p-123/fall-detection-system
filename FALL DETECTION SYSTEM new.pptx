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5"/>
  </p:notesMasterIdLst>
  <p:handoutMasterIdLst>
    <p:handoutMasterId r:id="rId36"/>
  </p:handoutMasterIdLst>
  <p:sldIdLst>
    <p:sldId id="256" r:id="rId5"/>
    <p:sldId id="258" r:id="rId6"/>
    <p:sldId id="315" r:id="rId7"/>
    <p:sldId id="261" r:id="rId8"/>
    <p:sldId id="283" r:id="rId9"/>
    <p:sldId id="287" r:id="rId10"/>
    <p:sldId id="288" r:id="rId11"/>
    <p:sldId id="319" r:id="rId12"/>
    <p:sldId id="290" r:id="rId13"/>
    <p:sldId id="291" r:id="rId14"/>
    <p:sldId id="292" r:id="rId15"/>
    <p:sldId id="295" r:id="rId16"/>
    <p:sldId id="296" r:id="rId17"/>
    <p:sldId id="298" r:id="rId18"/>
    <p:sldId id="316" r:id="rId19"/>
    <p:sldId id="301" r:id="rId20"/>
    <p:sldId id="318" r:id="rId21"/>
    <p:sldId id="320" r:id="rId22"/>
    <p:sldId id="304" r:id="rId23"/>
    <p:sldId id="305" r:id="rId24"/>
    <p:sldId id="306" r:id="rId25"/>
    <p:sldId id="307" r:id="rId26"/>
    <p:sldId id="308" r:id="rId27"/>
    <p:sldId id="309" r:id="rId28"/>
    <p:sldId id="310" r:id="rId29"/>
    <p:sldId id="311" r:id="rId30"/>
    <p:sldId id="312" r:id="rId31"/>
    <p:sldId id="313" r:id="rId32"/>
    <p:sldId id="314" r:id="rId33"/>
    <p:sldId id="269"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04" autoAdjust="0"/>
    <p:restoredTop sz="94660"/>
  </p:normalViewPr>
  <p:slideViewPr>
    <p:cSldViewPr snapToGrid="0">
      <p:cViewPr>
        <p:scale>
          <a:sx n="66" d="100"/>
          <a:sy n="66" d="100"/>
        </p:scale>
        <p:origin x="1320" y="322"/>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3/26/2026</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3/26/2026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hyperlink" Target="https://opencv.org" TargetMode="External"/><Relationship Id="rId2" Type="http://schemas.openxmlformats.org/officeDocument/2006/relationships/hyperlink" Target="https://docs.ultralytics.com" TargetMode="External"/><Relationship Id="rId1" Type="http://schemas.openxmlformats.org/officeDocument/2006/relationships/slideLayout" Target="../slideLayouts/slideLayout12.xml"/><Relationship Id="rId5" Type="http://schemas.openxmlformats.org/officeDocument/2006/relationships/hyperlink" Target="https://storage.googleapis.com/openimages/web/index.html" TargetMode="External"/><Relationship Id="rId4" Type="http://schemas.openxmlformats.org/officeDocument/2006/relationships/hyperlink" Target="https://roboflow.com"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2761488" y="1973635"/>
            <a:ext cx="8256468" cy="1455365"/>
          </a:xfrm>
        </p:spPr>
        <p:txBody>
          <a:bodyPr/>
          <a:lstStyle/>
          <a:p>
            <a:pPr algn="ctr"/>
            <a:r>
              <a:rPr lang="en-GB" sz="4800" dirty="0"/>
              <a:t> FALL DETECTION SYSTEM USING DEEPLEARNING</a:t>
            </a:r>
            <a:endParaRPr lang="en-US" sz="4800" dirty="0"/>
          </a:p>
        </p:txBody>
      </p:sp>
      <p:sp>
        <p:nvSpPr>
          <p:cNvPr id="5" name="TextBox 4">
            <a:extLst>
              <a:ext uri="{FF2B5EF4-FFF2-40B4-BE49-F238E27FC236}">
                <a16:creationId xmlns:a16="http://schemas.microsoft.com/office/drawing/2014/main" id="{DA9EEF89-8511-40C6-7CE8-48AFB2CA87B1}"/>
              </a:ext>
            </a:extLst>
          </p:cNvPr>
          <p:cNvSpPr txBox="1"/>
          <p:nvPr/>
        </p:nvSpPr>
        <p:spPr>
          <a:xfrm>
            <a:off x="6541910" y="4884365"/>
            <a:ext cx="6666089" cy="1703030"/>
          </a:xfrm>
          <a:prstGeom prst="rect">
            <a:avLst/>
          </a:prstGeom>
          <a:noFill/>
        </p:spPr>
        <p:txBody>
          <a:bodyPr wrap="square">
            <a:spAutoFit/>
          </a:bodyPr>
          <a:lstStyle/>
          <a:p>
            <a:pPr marL="457200" lvl="0" indent="0" algn="l" rtl="0">
              <a:lnSpc>
                <a:spcPct val="150000"/>
              </a:lnSpc>
              <a:spcBef>
                <a:spcPts val="0"/>
              </a:spcBef>
              <a:spcAft>
                <a:spcPts val="0"/>
              </a:spcAft>
              <a:buSzPts val="605"/>
              <a:buNone/>
            </a:pPr>
            <a:r>
              <a:rPr lang="en-US" sz="1800" dirty="0">
                <a:solidFill>
                  <a:schemeClr val="bg1"/>
                </a:solidFill>
              </a:rPr>
              <a:t>DEEPU.P            -    97424607008</a:t>
            </a:r>
          </a:p>
          <a:p>
            <a:pPr marL="457200" lvl="0" indent="0" algn="l" rtl="0">
              <a:lnSpc>
                <a:spcPct val="150000"/>
              </a:lnSpc>
              <a:spcBef>
                <a:spcPts val="0"/>
              </a:spcBef>
              <a:spcAft>
                <a:spcPts val="0"/>
              </a:spcAft>
              <a:buSzPts val="605"/>
              <a:buNone/>
            </a:pPr>
            <a:r>
              <a:rPr lang="en-US" sz="1800" dirty="0">
                <a:solidFill>
                  <a:schemeClr val="bg1"/>
                </a:solidFill>
              </a:rPr>
              <a:t>REVATHY R.K     -   97424607013</a:t>
            </a:r>
          </a:p>
          <a:p>
            <a:pPr marL="457200" lvl="0" indent="0" algn="l" rtl="0">
              <a:lnSpc>
                <a:spcPct val="150000"/>
              </a:lnSpc>
              <a:spcBef>
                <a:spcPts val="0"/>
              </a:spcBef>
              <a:spcAft>
                <a:spcPts val="0"/>
              </a:spcAft>
              <a:buSzPts val="605"/>
              <a:buNone/>
            </a:pPr>
            <a:r>
              <a:rPr lang="en-US" sz="1800" dirty="0">
                <a:solidFill>
                  <a:schemeClr val="bg1"/>
                </a:solidFill>
              </a:rPr>
              <a:t>SREELAKSHMI L-  97424607017</a:t>
            </a:r>
          </a:p>
          <a:p>
            <a:pPr marL="457200" lvl="0" indent="0" algn="l" rtl="0">
              <a:lnSpc>
                <a:spcPct val="150000"/>
              </a:lnSpc>
              <a:spcBef>
                <a:spcPts val="0"/>
              </a:spcBef>
              <a:spcAft>
                <a:spcPts val="0"/>
              </a:spcAft>
              <a:buSzPts val="605"/>
              <a:buNone/>
            </a:pPr>
            <a:r>
              <a:rPr lang="en-US" sz="1800" dirty="0">
                <a:solidFill>
                  <a:schemeClr val="bg1"/>
                </a:solidFill>
              </a:rPr>
              <a:t> MSc C.S AI Department of Computer Science</a:t>
            </a:r>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p:txBody>
          <a:bodyPr/>
          <a:lstStyle/>
          <a:p>
            <a:r>
              <a:rPr lang="en-GB" dirty="0"/>
              <a:t>AGENDA</a:t>
            </a:r>
            <a:endParaRPr lang="en-US" dirty="0"/>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
        <p:nvSpPr>
          <p:cNvPr id="9" name="TextBox 8">
            <a:extLst>
              <a:ext uri="{FF2B5EF4-FFF2-40B4-BE49-F238E27FC236}">
                <a16:creationId xmlns:a16="http://schemas.microsoft.com/office/drawing/2014/main" id="{04DF63CC-5C7A-8A0C-6B3C-754FD21BE3E2}"/>
              </a:ext>
            </a:extLst>
          </p:cNvPr>
          <p:cNvSpPr txBox="1"/>
          <p:nvPr/>
        </p:nvSpPr>
        <p:spPr>
          <a:xfrm>
            <a:off x="444500" y="1240429"/>
            <a:ext cx="3586726" cy="5027017"/>
          </a:xfrm>
          <a:prstGeom prst="rect">
            <a:avLst/>
          </a:prstGeom>
          <a:noFill/>
        </p:spPr>
        <p:txBody>
          <a:bodyPr wrap="square">
            <a:spAutoFit/>
          </a:bodyPr>
          <a:lstStyle/>
          <a:p>
            <a:pPr marL="457200" lvl="0" indent="-311150">
              <a:lnSpc>
                <a:spcPct val="150000"/>
              </a:lnSpc>
              <a:buSzPts val="1300"/>
              <a:buFont typeface="Arial"/>
              <a:buAutoNum type="arabicPeriod"/>
            </a:pPr>
            <a:r>
              <a:rPr lang="en-US" dirty="0">
                <a:solidFill>
                  <a:schemeClr val="bg1"/>
                </a:solidFill>
                <a:ea typeface="Arial"/>
                <a:cs typeface="Arial"/>
                <a:sym typeface="Arial"/>
              </a:rPr>
              <a:t>Introduction</a:t>
            </a:r>
          </a:p>
          <a:p>
            <a:pPr marL="457200" lvl="0" indent="-311150">
              <a:lnSpc>
                <a:spcPct val="150000"/>
              </a:lnSpc>
              <a:buSzPts val="1300"/>
              <a:buFont typeface="Arial"/>
              <a:buAutoNum type="arabicPeriod"/>
            </a:pPr>
            <a:r>
              <a:rPr lang="en-US" dirty="0">
                <a:solidFill>
                  <a:schemeClr val="bg1"/>
                </a:solidFill>
                <a:ea typeface="Arial"/>
                <a:cs typeface="Arial"/>
                <a:sym typeface="Arial"/>
              </a:rPr>
              <a:t>Problem Statement</a:t>
            </a:r>
          </a:p>
          <a:p>
            <a:pPr marL="457200" lvl="0" indent="-311150">
              <a:lnSpc>
                <a:spcPct val="150000"/>
              </a:lnSpc>
              <a:buSzPts val="1300"/>
              <a:buFont typeface="Arial"/>
              <a:buAutoNum type="arabicPeriod"/>
            </a:pPr>
            <a:r>
              <a:rPr lang="en-US" dirty="0">
                <a:solidFill>
                  <a:schemeClr val="bg1"/>
                </a:solidFill>
                <a:ea typeface="Arial"/>
                <a:cs typeface="Arial"/>
                <a:sym typeface="Arial"/>
              </a:rPr>
              <a:t>Existing System</a:t>
            </a:r>
          </a:p>
          <a:p>
            <a:pPr marL="457200" lvl="0" indent="-311150">
              <a:lnSpc>
                <a:spcPct val="150000"/>
              </a:lnSpc>
              <a:buSzPts val="1300"/>
              <a:buFont typeface="Arial"/>
              <a:buAutoNum type="arabicPeriod"/>
            </a:pPr>
            <a:r>
              <a:rPr lang="en-US" dirty="0">
                <a:solidFill>
                  <a:schemeClr val="bg1"/>
                </a:solidFill>
              </a:rPr>
              <a:t>Proposed System</a:t>
            </a:r>
          </a:p>
          <a:p>
            <a:pPr marL="457200" indent="-311150">
              <a:lnSpc>
                <a:spcPct val="150000"/>
              </a:lnSpc>
              <a:buSzPts val="1300"/>
              <a:buFont typeface="Arial"/>
              <a:buAutoNum type="arabicPeriod"/>
            </a:pPr>
            <a:r>
              <a:rPr lang="en-US" dirty="0">
                <a:solidFill>
                  <a:schemeClr val="bg1"/>
                </a:solidFill>
                <a:ea typeface="Arial"/>
                <a:cs typeface="Arial"/>
                <a:sym typeface="Arial"/>
              </a:rPr>
              <a:t>Dataset</a:t>
            </a:r>
            <a:endParaRPr lang="en-US" dirty="0">
              <a:solidFill>
                <a:schemeClr val="bg1"/>
              </a:solidFill>
            </a:endParaRPr>
          </a:p>
          <a:p>
            <a:pPr marL="457200" lvl="0" indent="-311150">
              <a:lnSpc>
                <a:spcPct val="150000"/>
              </a:lnSpc>
              <a:buSzPts val="1300"/>
              <a:buFont typeface="Arial"/>
              <a:buAutoNum type="arabicPeriod"/>
            </a:pPr>
            <a:r>
              <a:rPr lang="en-US" dirty="0">
                <a:solidFill>
                  <a:schemeClr val="bg1"/>
                </a:solidFill>
              </a:rPr>
              <a:t>Workflow</a:t>
            </a:r>
          </a:p>
          <a:p>
            <a:pPr marL="457200" lvl="0" indent="-311150">
              <a:lnSpc>
                <a:spcPct val="150000"/>
              </a:lnSpc>
              <a:buSzPts val="1300"/>
              <a:buFont typeface="Arial"/>
              <a:buAutoNum type="arabicPeriod"/>
            </a:pPr>
            <a:r>
              <a:rPr lang="en-US" dirty="0">
                <a:solidFill>
                  <a:schemeClr val="bg1"/>
                </a:solidFill>
              </a:rPr>
              <a:t>Dataflow</a:t>
            </a:r>
          </a:p>
          <a:p>
            <a:pPr marL="457200" lvl="0" indent="-311150">
              <a:lnSpc>
                <a:spcPct val="150000"/>
              </a:lnSpc>
              <a:buSzPts val="1300"/>
              <a:buFont typeface="Arial"/>
              <a:buAutoNum type="arabicPeriod"/>
            </a:pPr>
            <a:r>
              <a:rPr lang="en-US" dirty="0">
                <a:solidFill>
                  <a:schemeClr val="bg1"/>
                </a:solidFill>
                <a:ea typeface="Arial"/>
                <a:cs typeface="Arial"/>
                <a:sym typeface="Arial"/>
              </a:rPr>
              <a:t>Hardware components</a:t>
            </a:r>
          </a:p>
          <a:p>
            <a:pPr marL="457200" lvl="0" indent="-311150">
              <a:lnSpc>
                <a:spcPct val="150000"/>
              </a:lnSpc>
              <a:buSzPts val="1300"/>
              <a:buFont typeface="Arial"/>
              <a:buAutoNum type="arabicPeriod"/>
            </a:pPr>
            <a:r>
              <a:rPr lang="en-US" dirty="0">
                <a:solidFill>
                  <a:schemeClr val="bg1"/>
                </a:solidFill>
                <a:ea typeface="Arial"/>
                <a:cs typeface="Arial"/>
                <a:sym typeface="Arial"/>
              </a:rPr>
              <a:t>Software components</a:t>
            </a:r>
          </a:p>
          <a:p>
            <a:pPr marL="457200" lvl="0" indent="-311150">
              <a:lnSpc>
                <a:spcPct val="150000"/>
              </a:lnSpc>
              <a:buSzPts val="1300"/>
              <a:buFont typeface="Arial"/>
              <a:buAutoNum type="arabicPeriod"/>
            </a:pPr>
            <a:r>
              <a:rPr lang="en-US" dirty="0">
                <a:solidFill>
                  <a:schemeClr val="bg1"/>
                </a:solidFill>
                <a:ea typeface="Arial"/>
                <a:cs typeface="Arial"/>
                <a:sym typeface="Arial"/>
              </a:rPr>
              <a:t>Circuit Diagram</a:t>
            </a:r>
          </a:p>
          <a:p>
            <a:pPr marL="457200" lvl="0" indent="-311150">
              <a:lnSpc>
                <a:spcPct val="150000"/>
              </a:lnSpc>
              <a:buSzPts val="1300"/>
              <a:buFont typeface="Arial"/>
              <a:buAutoNum type="arabicPeriod"/>
            </a:pPr>
            <a:r>
              <a:rPr lang="en-US" dirty="0">
                <a:solidFill>
                  <a:schemeClr val="bg1"/>
                </a:solidFill>
                <a:ea typeface="Arial"/>
                <a:cs typeface="Arial"/>
                <a:sym typeface="Arial"/>
              </a:rPr>
              <a:t>Yolo v11 detection pipeline</a:t>
            </a:r>
          </a:p>
          <a:p>
            <a:pPr marL="457200" lvl="0" indent="-311150">
              <a:lnSpc>
                <a:spcPct val="150000"/>
              </a:lnSpc>
              <a:buSzPts val="1300"/>
              <a:buFont typeface="Arial"/>
              <a:buAutoNum type="arabicPeriod"/>
            </a:pPr>
            <a:endParaRPr lang="en-US" dirty="0">
              <a:solidFill>
                <a:schemeClr val="bg1"/>
              </a:solidFill>
              <a:ea typeface="Arial"/>
              <a:cs typeface="Arial"/>
              <a:sym typeface="Arial"/>
            </a:endParaRPr>
          </a:p>
        </p:txBody>
      </p:sp>
      <p:sp>
        <p:nvSpPr>
          <p:cNvPr id="5" name="TextBox 4">
            <a:extLst>
              <a:ext uri="{FF2B5EF4-FFF2-40B4-BE49-F238E27FC236}">
                <a16:creationId xmlns:a16="http://schemas.microsoft.com/office/drawing/2014/main" id="{350CEE99-5E73-FAD5-6CC6-69055AE82067}"/>
              </a:ext>
            </a:extLst>
          </p:cNvPr>
          <p:cNvSpPr txBox="1"/>
          <p:nvPr/>
        </p:nvSpPr>
        <p:spPr>
          <a:xfrm>
            <a:off x="4824770" y="1514471"/>
            <a:ext cx="3586726" cy="2949525"/>
          </a:xfrm>
          <a:prstGeom prst="rect">
            <a:avLst/>
          </a:prstGeom>
          <a:noFill/>
        </p:spPr>
        <p:txBody>
          <a:bodyPr wrap="square">
            <a:spAutoFit/>
          </a:bodyPr>
          <a:lstStyle/>
          <a:p>
            <a:pPr marL="488950" lvl="0" indent="-342900">
              <a:lnSpc>
                <a:spcPct val="150000"/>
              </a:lnSpc>
              <a:buSzPts val="1300"/>
              <a:buFont typeface="+mj-lt"/>
              <a:buAutoNum type="arabicPeriod" startAt="12"/>
            </a:pPr>
            <a:r>
              <a:rPr lang="en-GB" dirty="0">
                <a:solidFill>
                  <a:schemeClr val="bg1"/>
                </a:solidFill>
                <a:ea typeface="Arial"/>
                <a:cs typeface="Arial"/>
                <a:sym typeface="Arial"/>
              </a:rPr>
              <a:t>Results</a:t>
            </a:r>
          </a:p>
          <a:p>
            <a:pPr marL="488950" lvl="0" indent="-342900">
              <a:lnSpc>
                <a:spcPct val="150000"/>
              </a:lnSpc>
              <a:buSzPts val="1300"/>
              <a:buFont typeface="+mj-lt"/>
              <a:buAutoNum type="arabicPeriod" startAt="12"/>
            </a:pPr>
            <a:r>
              <a:rPr lang="en-GB" dirty="0">
                <a:solidFill>
                  <a:schemeClr val="bg1"/>
                </a:solidFill>
                <a:ea typeface="Arial"/>
                <a:cs typeface="Arial"/>
                <a:sym typeface="Arial"/>
              </a:rPr>
              <a:t>Advantages</a:t>
            </a:r>
          </a:p>
          <a:p>
            <a:pPr marL="488950" lvl="0" indent="-342900">
              <a:lnSpc>
                <a:spcPct val="150000"/>
              </a:lnSpc>
              <a:buSzPts val="1300"/>
              <a:buFont typeface="+mj-lt"/>
              <a:buAutoNum type="arabicPeriod" startAt="12"/>
            </a:pPr>
            <a:r>
              <a:rPr lang="en-GB" dirty="0">
                <a:solidFill>
                  <a:schemeClr val="bg1"/>
                </a:solidFill>
                <a:ea typeface="Arial"/>
                <a:cs typeface="Arial"/>
                <a:sym typeface="Arial"/>
              </a:rPr>
              <a:t>Limitations</a:t>
            </a:r>
          </a:p>
          <a:p>
            <a:pPr marL="488950" lvl="0" indent="-342900">
              <a:lnSpc>
                <a:spcPct val="150000"/>
              </a:lnSpc>
              <a:buSzPts val="1300"/>
              <a:buFont typeface="+mj-lt"/>
              <a:buAutoNum type="arabicPeriod" startAt="12"/>
            </a:pPr>
            <a:r>
              <a:rPr lang="en-GB" dirty="0">
                <a:solidFill>
                  <a:schemeClr val="bg1"/>
                </a:solidFill>
                <a:ea typeface="Arial"/>
                <a:cs typeface="Arial"/>
                <a:sym typeface="Arial"/>
              </a:rPr>
              <a:t>Applications</a:t>
            </a:r>
          </a:p>
          <a:p>
            <a:pPr marL="488950" lvl="0" indent="-342900">
              <a:lnSpc>
                <a:spcPct val="150000"/>
              </a:lnSpc>
              <a:buSzPts val="1300"/>
              <a:buFont typeface="+mj-lt"/>
              <a:buAutoNum type="arabicPeriod" startAt="12"/>
            </a:pPr>
            <a:r>
              <a:rPr lang="en-GB" dirty="0">
                <a:solidFill>
                  <a:schemeClr val="bg1"/>
                </a:solidFill>
                <a:ea typeface="Arial"/>
                <a:cs typeface="Arial"/>
                <a:sym typeface="Arial"/>
              </a:rPr>
              <a:t>Future Enhancements</a:t>
            </a:r>
          </a:p>
          <a:p>
            <a:pPr marL="488950" lvl="0" indent="-342900">
              <a:lnSpc>
                <a:spcPct val="150000"/>
              </a:lnSpc>
              <a:buSzPts val="1300"/>
              <a:buFont typeface="+mj-lt"/>
              <a:buAutoNum type="arabicPeriod" startAt="12"/>
            </a:pPr>
            <a:r>
              <a:rPr lang="en-GB" dirty="0">
                <a:solidFill>
                  <a:schemeClr val="bg1"/>
                </a:solidFill>
                <a:ea typeface="Arial"/>
                <a:cs typeface="Arial"/>
                <a:sym typeface="Arial"/>
              </a:rPr>
              <a:t>Conclusion</a:t>
            </a:r>
          </a:p>
          <a:p>
            <a:pPr marL="488950" lvl="0" indent="-342900">
              <a:lnSpc>
                <a:spcPct val="150000"/>
              </a:lnSpc>
              <a:buSzPts val="1300"/>
              <a:buFont typeface="+mj-lt"/>
              <a:buAutoNum type="arabicPeriod" startAt="12"/>
            </a:pPr>
            <a:r>
              <a:rPr lang="en-GB" dirty="0">
                <a:solidFill>
                  <a:schemeClr val="bg1"/>
                </a:solidFill>
                <a:ea typeface="Arial"/>
                <a:cs typeface="Arial"/>
                <a:sym typeface="Arial"/>
              </a:rPr>
              <a:t>References</a:t>
            </a:r>
          </a:p>
        </p:txBody>
      </p:sp>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33428-4552-59ED-B557-C65A5C40E52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EF5DA3B-F7E6-117B-0DBB-D9214C591486}"/>
              </a:ext>
            </a:extLst>
          </p:cNvPr>
          <p:cNvSpPr>
            <a:spLocks noGrp="1"/>
          </p:cNvSpPr>
          <p:nvPr>
            <p:ph type="title"/>
          </p:nvPr>
        </p:nvSpPr>
        <p:spPr/>
        <p:txBody>
          <a:bodyPr/>
          <a:lstStyle/>
          <a:p>
            <a:r>
              <a:rPr lang="en-GB" dirty="0"/>
              <a:t>INTRODUCTION</a:t>
            </a:r>
            <a:endParaRPr lang="en-US" dirty="0"/>
          </a:p>
        </p:txBody>
      </p:sp>
      <p:sp>
        <p:nvSpPr>
          <p:cNvPr id="2" name="Slide Number Placeholder 1">
            <a:extLst>
              <a:ext uri="{FF2B5EF4-FFF2-40B4-BE49-F238E27FC236}">
                <a16:creationId xmlns:a16="http://schemas.microsoft.com/office/drawing/2014/main" id="{11039230-2502-4C75-C6F1-B1043D707ACC}"/>
              </a:ext>
            </a:extLst>
          </p:cNvPr>
          <p:cNvSpPr>
            <a:spLocks noGrp="1"/>
          </p:cNvSpPr>
          <p:nvPr>
            <p:ph type="sldNum" sz="quarter" idx="12"/>
          </p:nvPr>
        </p:nvSpPr>
        <p:spPr/>
        <p:txBody>
          <a:bodyPr/>
          <a:lstStyle/>
          <a:p>
            <a:fld id="{C263D6C4-4840-40CC-AC84-17E24B3B7BDE}" type="slidenum">
              <a:rPr lang="en-US" smtClean="0"/>
              <a:pPr/>
              <a:t>3</a:t>
            </a:fld>
            <a:endParaRPr lang="en-US" dirty="0"/>
          </a:p>
        </p:txBody>
      </p:sp>
      <p:sp>
        <p:nvSpPr>
          <p:cNvPr id="9" name="TextBox 8">
            <a:extLst>
              <a:ext uri="{FF2B5EF4-FFF2-40B4-BE49-F238E27FC236}">
                <a16:creationId xmlns:a16="http://schemas.microsoft.com/office/drawing/2014/main" id="{6BD373FC-9B45-8AAD-F64E-D12B8B2A09D4}"/>
              </a:ext>
            </a:extLst>
          </p:cNvPr>
          <p:cNvSpPr txBox="1"/>
          <p:nvPr/>
        </p:nvSpPr>
        <p:spPr>
          <a:xfrm>
            <a:off x="444499" y="1563007"/>
            <a:ext cx="9557457" cy="3330399"/>
          </a:xfrm>
          <a:prstGeom prst="rect">
            <a:avLst/>
          </a:prstGeom>
          <a:noFill/>
        </p:spPr>
        <p:txBody>
          <a:bodyPr wrap="square">
            <a:spAutoFit/>
          </a:bodyPr>
          <a:lstStyle/>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Falls are one of the leading causes of injury among the elderly people</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The aging population is rapidly increasing worldwide</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Many older adults live alone without continuous supervision</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Family members often have busy schedules and cannot monitor them constantly</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Delayed medical assistance after a fall can lead to serious complications or even death</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An automated fall detection system enables immediate alerts and faster response</a:t>
            </a:r>
          </a:p>
        </p:txBody>
      </p:sp>
    </p:spTree>
    <p:extLst>
      <p:ext uri="{BB962C8B-B14F-4D97-AF65-F5344CB8AC3E}">
        <p14:creationId xmlns:p14="http://schemas.microsoft.com/office/powerpoint/2010/main" val="845402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444500" y="847725"/>
            <a:ext cx="11214100" cy="535531"/>
          </a:xfrm>
        </p:spPr>
        <p:txBody>
          <a:bodyPr/>
          <a:lstStyle/>
          <a:p>
            <a:r>
              <a:rPr lang="en-GB" dirty="0"/>
              <a:t>Problem Statement</a:t>
            </a:r>
            <a:endParaRPr lang="en-US" dirty="0"/>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4</a:t>
            </a:fld>
            <a:endParaRPr lang="en-US" dirty="0"/>
          </a:p>
        </p:txBody>
      </p:sp>
      <p:sp>
        <p:nvSpPr>
          <p:cNvPr id="8" name="Text Placeholder 7">
            <a:extLst>
              <a:ext uri="{FF2B5EF4-FFF2-40B4-BE49-F238E27FC236}">
                <a16:creationId xmlns:a16="http://schemas.microsoft.com/office/drawing/2014/main" id="{47DC4E62-1A34-4F98-A451-214F1808519C}"/>
              </a:ext>
            </a:extLst>
          </p:cNvPr>
          <p:cNvSpPr>
            <a:spLocks noGrp="1"/>
          </p:cNvSpPr>
          <p:nvPr>
            <p:ph type="body" sz="quarter" idx="2"/>
          </p:nvPr>
        </p:nvSpPr>
        <p:spPr>
          <a:xfrm>
            <a:off x="557389" y="1827742"/>
            <a:ext cx="10577457" cy="3684588"/>
          </a:xfrm>
        </p:spPr>
        <p:txBody>
          <a:bodyPr>
            <a:normAutofit/>
          </a:bodyPr>
          <a:lstStyle/>
          <a:p>
            <a:pPr marL="0" indent="0">
              <a:lnSpc>
                <a:spcPct val="150000"/>
              </a:lnSpc>
              <a:buNone/>
            </a:pPr>
            <a:r>
              <a:rPr lang="en-US" dirty="0"/>
              <a:t>Current home security systems are </a:t>
            </a:r>
            <a:r>
              <a:rPr lang="en-US" b="1" dirty="0"/>
              <a:t>passive</a:t>
            </a:r>
            <a:r>
              <a:rPr lang="en-US" dirty="0"/>
              <a:t>. They record video, but they do not "understand" what is happening. If an elderly person falls the camera just watches it doesn't call for help. undetected for hours, it leads to serious injury or death. </a:t>
            </a:r>
          </a:p>
        </p:txBody>
      </p:sp>
    </p:spTree>
    <p:extLst>
      <p:ext uri="{BB962C8B-B14F-4D97-AF65-F5344CB8AC3E}">
        <p14:creationId xmlns:p14="http://schemas.microsoft.com/office/powerpoint/2010/main" val="360727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GB" dirty="0"/>
              <a:t> Existing System</a:t>
            </a:r>
            <a:endParaRPr lang="en-US" dirty="0"/>
          </a:p>
        </p:txBody>
      </p:sp>
      <p:sp>
        <p:nvSpPr>
          <p:cNvPr id="2" name="Slide Number Placeholder 1">
            <a:extLst>
              <a:ext uri="{FF2B5EF4-FFF2-40B4-BE49-F238E27FC236}">
                <a16:creationId xmlns:a16="http://schemas.microsoft.com/office/drawing/2014/main" id="{2F478C69-0A1D-45FF-8600-ED903803FFE1}"/>
              </a:ext>
            </a:extLst>
          </p:cNvPr>
          <p:cNvSpPr>
            <a:spLocks noGrp="1"/>
          </p:cNvSpPr>
          <p:nvPr>
            <p:ph type="sldNum" sz="quarter" idx="12"/>
          </p:nvPr>
        </p:nvSpPr>
        <p:spPr/>
        <p:txBody>
          <a:bodyPr/>
          <a:lstStyle/>
          <a:p>
            <a:fld id="{C263D6C4-4840-40CC-AC84-17E24B3B7BDE}" type="slidenum">
              <a:rPr lang="en-US" smtClean="0"/>
              <a:pPr/>
              <a:t>5</a:t>
            </a:fld>
            <a:endParaRPr lang="en-US" dirty="0"/>
          </a:p>
        </p:txBody>
      </p:sp>
      <p:sp>
        <p:nvSpPr>
          <p:cNvPr id="11" name="TextBox 10">
            <a:extLst>
              <a:ext uri="{FF2B5EF4-FFF2-40B4-BE49-F238E27FC236}">
                <a16:creationId xmlns:a16="http://schemas.microsoft.com/office/drawing/2014/main" id="{C7E56BF1-66FA-0007-3040-D97BE5640E1B}"/>
              </a:ext>
            </a:extLst>
          </p:cNvPr>
          <p:cNvSpPr txBox="1"/>
          <p:nvPr/>
        </p:nvSpPr>
        <p:spPr>
          <a:xfrm>
            <a:off x="385939" y="1413828"/>
            <a:ext cx="11331222" cy="4801314"/>
          </a:xfrm>
          <a:prstGeom prst="rect">
            <a:avLst/>
          </a:prstGeom>
          <a:noFill/>
        </p:spPr>
        <p:txBody>
          <a:bodyPr wrap="square">
            <a:spAutoFit/>
          </a:bodyPr>
          <a:lstStyle/>
          <a:p>
            <a:pPr>
              <a:buNone/>
            </a:pPr>
            <a:r>
              <a:rPr lang="en-US" b="1" dirty="0">
                <a:solidFill>
                  <a:schemeClr val="bg1"/>
                </a:solidFill>
              </a:rPr>
              <a:t>1. Manual Monitoring</a:t>
            </a:r>
          </a:p>
          <a:p>
            <a:pPr lvl="1">
              <a:buFont typeface="Arial" panose="020B0604020202020204" pitchFamily="34" charset="0"/>
              <a:buChar char="•"/>
            </a:pPr>
            <a:r>
              <a:rPr lang="en-US" dirty="0">
                <a:solidFill>
                  <a:schemeClr val="bg1"/>
                </a:solidFill>
              </a:rPr>
              <a:t> Elderly individuals are monitored by family members or caregivers</a:t>
            </a:r>
          </a:p>
          <a:p>
            <a:pPr lvl="1">
              <a:buFont typeface="Arial" panose="020B0604020202020204" pitchFamily="34" charset="0"/>
              <a:buChar char="•"/>
            </a:pPr>
            <a:r>
              <a:rPr lang="en-US" dirty="0">
                <a:solidFill>
                  <a:schemeClr val="bg1"/>
                </a:solidFill>
              </a:rPr>
              <a:t> Requires constant human presence</a:t>
            </a:r>
          </a:p>
          <a:p>
            <a:pPr lvl="1">
              <a:buFont typeface="Arial" panose="020B0604020202020204" pitchFamily="34" charset="0"/>
              <a:buChar char="•"/>
            </a:pPr>
            <a:r>
              <a:rPr lang="en-US" dirty="0">
                <a:solidFill>
                  <a:schemeClr val="bg1"/>
                </a:solidFill>
              </a:rPr>
              <a:t> Not practical due to busy lifestyles</a:t>
            </a:r>
          </a:p>
          <a:p>
            <a:pPr lvl="1">
              <a:buFont typeface="Arial" panose="020B0604020202020204" pitchFamily="34" charset="0"/>
              <a:buChar char="•"/>
            </a:pPr>
            <a:endParaRPr lang="en-US" dirty="0">
              <a:solidFill>
                <a:schemeClr val="bg1"/>
              </a:solidFill>
            </a:endParaRPr>
          </a:p>
          <a:p>
            <a:pPr>
              <a:buNone/>
            </a:pPr>
            <a:r>
              <a:rPr lang="en-US" b="1" dirty="0">
                <a:solidFill>
                  <a:schemeClr val="bg1"/>
                </a:solidFill>
              </a:rPr>
              <a:t>2. Wearable Devices</a:t>
            </a:r>
          </a:p>
          <a:p>
            <a:pPr lvl="1">
              <a:buFont typeface="Arial" panose="020B0604020202020204" pitchFamily="34" charset="0"/>
              <a:buChar char="•"/>
            </a:pPr>
            <a:r>
              <a:rPr lang="en-US" dirty="0">
                <a:solidFill>
                  <a:schemeClr val="bg1"/>
                </a:solidFill>
              </a:rPr>
              <a:t> Devices like fall detection bands or smartwatches (e.g., Apple Watch)</a:t>
            </a:r>
          </a:p>
          <a:p>
            <a:pPr lvl="1">
              <a:buFont typeface="Arial" panose="020B0604020202020204" pitchFamily="34" charset="0"/>
              <a:buChar char="•"/>
            </a:pPr>
            <a:r>
              <a:rPr lang="en-US" dirty="0">
                <a:solidFill>
                  <a:schemeClr val="bg1"/>
                </a:solidFill>
              </a:rPr>
              <a:t> Detect falls using motion sensors (accelerometer, gyroscope)</a:t>
            </a:r>
          </a:p>
          <a:p>
            <a:pPr lvl="1"/>
            <a:r>
              <a:rPr lang="en-US" b="1" dirty="0">
                <a:solidFill>
                  <a:schemeClr val="bg1"/>
                </a:solidFill>
              </a:rPr>
              <a:t> Limitations:</a:t>
            </a:r>
            <a:endParaRPr lang="en-US" dirty="0">
              <a:solidFill>
                <a:schemeClr val="bg1"/>
              </a:solidFill>
            </a:endParaRPr>
          </a:p>
          <a:p>
            <a:pPr marL="1200150" lvl="2" indent="-285750">
              <a:buFont typeface="Arial" panose="020B0604020202020204" pitchFamily="34" charset="0"/>
              <a:buChar char="•"/>
            </a:pPr>
            <a:r>
              <a:rPr lang="en-US" dirty="0">
                <a:solidFill>
                  <a:schemeClr val="bg1"/>
                </a:solidFill>
              </a:rPr>
              <a:t>Must be worn at all times</a:t>
            </a:r>
          </a:p>
          <a:p>
            <a:pPr marL="1200150" lvl="2" indent="-285750">
              <a:buFont typeface="Arial" panose="020B0604020202020204" pitchFamily="34" charset="0"/>
              <a:buChar char="•"/>
            </a:pPr>
            <a:r>
              <a:rPr lang="en-US" dirty="0">
                <a:solidFill>
                  <a:schemeClr val="bg1"/>
                </a:solidFill>
              </a:rPr>
              <a:t>Can be forgotten or removed</a:t>
            </a:r>
          </a:p>
          <a:p>
            <a:pPr marL="1200150" lvl="2" indent="-285750">
              <a:buFont typeface="Arial" panose="020B0604020202020204" pitchFamily="34" charset="0"/>
              <a:buChar char="•"/>
            </a:pPr>
            <a:r>
              <a:rPr lang="en-US" dirty="0">
                <a:solidFill>
                  <a:schemeClr val="bg1"/>
                </a:solidFill>
              </a:rPr>
              <a:t>False alarms possible</a:t>
            </a:r>
          </a:p>
          <a:p>
            <a:pPr marL="1200150" lvl="2" indent="-285750">
              <a:buFont typeface="Arial" panose="020B0604020202020204" pitchFamily="34" charset="0"/>
              <a:buChar char="•"/>
            </a:pPr>
            <a:endParaRPr lang="en-US" dirty="0">
              <a:solidFill>
                <a:schemeClr val="bg1"/>
              </a:solidFill>
            </a:endParaRPr>
          </a:p>
          <a:p>
            <a:pPr>
              <a:buNone/>
            </a:pPr>
            <a:r>
              <a:rPr lang="en-US" b="1" dirty="0">
                <a:solidFill>
                  <a:schemeClr val="bg1"/>
                </a:solidFill>
              </a:rPr>
              <a:t>3. Camera-Based Systems (Traditional)</a:t>
            </a:r>
          </a:p>
          <a:p>
            <a:pPr lvl="1">
              <a:buFont typeface="Arial" panose="020B0604020202020204" pitchFamily="34" charset="0"/>
              <a:buChar char="•"/>
            </a:pPr>
            <a:r>
              <a:rPr lang="en-US" dirty="0">
                <a:solidFill>
                  <a:schemeClr val="bg1"/>
                </a:solidFill>
              </a:rPr>
              <a:t> Use CCTV cameras with basic motion detection</a:t>
            </a:r>
          </a:p>
          <a:p>
            <a:pPr lvl="1">
              <a:buFont typeface="Arial" panose="020B0604020202020204" pitchFamily="34" charset="0"/>
              <a:buChar char="•"/>
            </a:pPr>
            <a:r>
              <a:rPr lang="en-US" dirty="0">
                <a:solidFill>
                  <a:schemeClr val="bg1"/>
                </a:solidFill>
              </a:rPr>
              <a:t> Limited intelligence and accuracy</a:t>
            </a:r>
          </a:p>
          <a:p>
            <a:pPr lvl="1">
              <a:buFont typeface="Arial" panose="020B0604020202020204" pitchFamily="34" charset="0"/>
              <a:buChar char="•"/>
            </a:pPr>
            <a:r>
              <a:rPr lang="en-US" dirty="0">
                <a:solidFill>
                  <a:schemeClr val="bg1"/>
                </a:solidFill>
              </a:rPr>
              <a:t> Cannot reliably distinguish falls from normal activities</a:t>
            </a:r>
          </a:p>
        </p:txBody>
      </p:sp>
    </p:spTree>
    <p:extLst>
      <p:ext uri="{BB962C8B-B14F-4D97-AF65-F5344CB8AC3E}">
        <p14:creationId xmlns:p14="http://schemas.microsoft.com/office/powerpoint/2010/main" val="451187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6C1ED-7E39-D468-FFC9-73A26DD4167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9FF02D0-411F-554D-67AB-D1D1573BD744}"/>
              </a:ext>
            </a:extLst>
          </p:cNvPr>
          <p:cNvSpPr>
            <a:spLocks noGrp="1"/>
          </p:cNvSpPr>
          <p:nvPr>
            <p:ph type="title"/>
          </p:nvPr>
        </p:nvSpPr>
        <p:spPr>
          <a:xfrm>
            <a:off x="444500" y="542925"/>
            <a:ext cx="11214100" cy="740587"/>
          </a:xfrm>
        </p:spPr>
        <p:txBody>
          <a:bodyPr/>
          <a:lstStyle/>
          <a:p>
            <a:pPr>
              <a:lnSpc>
                <a:spcPct val="150000"/>
              </a:lnSpc>
            </a:pPr>
            <a:r>
              <a:rPr lang="en-US" dirty="0"/>
              <a:t>Limitations of Existing Systems</a:t>
            </a:r>
          </a:p>
        </p:txBody>
      </p:sp>
      <p:sp>
        <p:nvSpPr>
          <p:cNvPr id="2" name="Slide Number Placeholder 1">
            <a:extLst>
              <a:ext uri="{FF2B5EF4-FFF2-40B4-BE49-F238E27FC236}">
                <a16:creationId xmlns:a16="http://schemas.microsoft.com/office/drawing/2014/main" id="{A5770BD6-65E7-89C6-FCA8-F59C2E629971}"/>
              </a:ext>
            </a:extLst>
          </p:cNvPr>
          <p:cNvSpPr>
            <a:spLocks noGrp="1"/>
          </p:cNvSpPr>
          <p:nvPr>
            <p:ph type="sldNum" sz="quarter" idx="12"/>
          </p:nvPr>
        </p:nvSpPr>
        <p:spPr/>
        <p:txBody>
          <a:bodyPr/>
          <a:lstStyle/>
          <a:p>
            <a:fld id="{C263D6C4-4840-40CC-AC84-17E24B3B7BDE}" type="slidenum">
              <a:rPr lang="en-US" smtClean="0"/>
              <a:pPr/>
              <a:t>6</a:t>
            </a:fld>
            <a:endParaRPr lang="en-US" dirty="0"/>
          </a:p>
        </p:txBody>
      </p:sp>
      <p:sp>
        <p:nvSpPr>
          <p:cNvPr id="11" name="TextBox 10">
            <a:extLst>
              <a:ext uri="{FF2B5EF4-FFF2-40B4-BE49-F238E27FC236}">
                <a16:creationId xmlns:a16="http://schemas.microsoft.com/office/drawing/2014/main" id="{3F72E92A-5CCA-510D-B5EA-61E11A5AC55B}"/>
              </a:ext>
            </a:extLst>
          </p:cNvPr>
          <p:cNvSpPr txBox="1"/>
          <p:nvPr/>
        </p:nvSpPr>
        <p:spPr>
          <a:xfrm>
            <a:off x="430389" y="1761068"/>
            <a:ext cx="11331222" cy="2031325"/>
          </a:xfrm>
          <a:prstGeom prst="rect">
            <a:avLst/>
          </a:prstGeom>
          <a:noFill/>
        </p:spPr>
        <p:txBody>
          <a:bodyPr wrap="square">
            <a:spAutoFit/>
          </a:bodyPr>
          <a:lstStyle/>
          <a:p>
            <a:pPr marL="285750" indent="-285750">
              <a:lnSpc>
                <a:spcPct val="150000"/>
              </a:lnSpc>
              <a:buFont typeface="Wingdings" panose="05000000000000000000" pitchFamily="2" charset="2"/>
              <a:buChar char="q"/>
            </a:pPr>
            <a:r>
              <a:rPr lang="en-US" dirty="0">
                <a:solidFill>
                  <a:schemeClr val="bg1"/>
                </a:solidFill>
              </a:rPr>
              <a:t>Lack of real-time intelligent detection</a:t>
            </a:r>
          </a:p>
          <a:p>
            <a:pPr marL="285750" indent="-285750">
              <a:lnSpc>
                <a:spcPct val="150000"/>
              </a:lnSpc>
              <a:buFont typeface="Wingdings" panose="05000000000000000000" pitchFamily="2" charset="2"/>
              <a:buChar char="q"/>
            </a:pPr>
            <a:r>
              <a:rPr lang="en-US" dirty="0">
                <a:solidFill>
                  <a:schemeClr val="bg1"/>
                </a:solidFill>
              </a:rPr>
              <a:t>High false positives or missed detections</a:t>
            </a:r>
          </a:p>
          <a:p>
            <a:pPr marL="285750" indent="-285750">
              <a:lnSpc>
                <a:spcPct val="150000"/>
              </a:lnSpc>
              <a:buFont typeface="Wingdings" panose="05000000000000000000" pitchFamily="2" charset="2"/>
              <a:buChar char="q"/>
            </a:pPr>
            <a:r>
              <a:rPr lang="en-US" dirty="0">
                <a:solidFill>
                  <a:schemeClr val="bg1"/>
                </a:solidFill>
              </a:rPr>
              <a:t>Dependence on user compliance (wearables)</a:t>
            </a:r>
          </a:p>
          <a:p>
            <a:pPr marL="285750" indent="-285750">
              <a:lnSpc>
                <a:spcPct val="150000"/>
              </a:lnSpc>
              <a:buFont typeface="Wingdings" panose="05000000000000000000" pitchFamily="2" charset="2"/>
              <a:buChar char="q"/>
            </a:pPr>
            <a:r>
              <a:rPr lang="en-US" dirty="0">
                <a:solidFill>
                  <a:schemeClr val="bg1"/>
                </a:solidFill>
              </a:rPr>
              <a:t>Expensive or complex setups</a:t>
            </a:r>
          </a:p>
          <a:p>
            <a:pPr>
              <a:buNone/>
            </a:pPr>
            <a:endParaRPr lang="en-US" dirty="0">
              <a:solidFill>
                <a:schemeClr val="bg1"/>
              </a:solidFill>
            </a:endParaRPr>
          </a:p>
        </p:txBody>
      </p:sp>
    </p:spTree>
    <p:extLst>
      <p:ext uri="{BB962C8B-B14F-4D97-AF65-F5344CB8AC3E}">
        <p14:creationId xmlns:p14="http://schemas.microsoft.com/office/powerpoint/2010/main" val="2626607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FA062-A213-F6C5-9523-3AE903FA7FD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0B52DF0-22C9-9C2C-D889-51D0F311E863}"/>
              </a:ext>
            </a:extLst>
          </p:cNvPr>
          <p:cNvSpPr>
            <a:spLocks noGrp="1"/>
          </p:cNvSpPr>
          <p:nvPr>
            <p:ph type="title"/>
          </p:nvPr>
        </p:nvSpPr>
        <p:spPr>
          <a:xfrm>
            <a:off x="444500" y="542925"/>
            <a:ext cx="11214100" cy="740587"/>
          </a:xfrm>
        </p:spPr>
        <p:txBody>
          <a:bodyPr/>
          <a:lstStyle/>
          <a:p>
            <a:pPr>
              <a:lnSpc>
                <a:spcPct val="150000"/>
              </a:lnSpc>
            </a:pPr>
            <a:r>
              <a:rPr lang="en-US" dirty="0"/>
              <a:t>Proposed System</a:t>
            </a:r>
          </a:p>
        </p:txBody>
      </p:sp>
      <p:sp>
        <p:nvSpPr>
          <p:cNvPr id="2" name="Slide Number Placeholder 1">
            <a:extLst>
              <a:ext uri="{FF2B5EF4-FFF2-40B4-BE49-F238E27FC236}">
                <a16:creationId xmlns:a16="http://schemas.microsoft.com/office/drawing/2014/main" id="{F955197D-F1B1-5E2B-1CE3-03921849B3E8}"/>
              </a:ext>
            </a:extLst>
          </p:cNvPr>
          <p:cNvSpPr>
            <a:spLocks noGrp="1"/>
          </p:cNvSpPr>
          <p:nvPr>
            <p:ph type="sldNum" sz="quarter" idx="12"/>
          </p:nvPr>
        </p:nvSpPr>
        <p:spPr/>
        <p:txBody>
          <a:bodyPr/>
          <a:lstStyle/>
          <a:p>
            <a:fld id="{C263D6C4-4840-40CC-AC84-17E24B3B7BDE}" type="slidenum">
              <a:rPr lang="en-US" smtClean="0"/>
              <a:pPr/>
              <a:t>7</a:t>
            </a:fld>
            <a:endParaRPr lang="en-US" dirty="0"/>
          </a:p>
        </p:txBody>
      </p:sp>
      <p:sp>
        <p:nvSpPr>
          <p:cNvPr id="11" name="TextBox 10">
            <a:extLst>
              <a:ext uri="{FF2B5EF4-FFF2-40B4-BE49-F238E27FC236}">
                <a16:creationId xmlns:a16="http://schemas.microsoft.com/office/drawing/2014/main" id="{356CA182-C629-1FA7-0DD8-BE1C7FCADB4E}"/>
              </a:ext>
            </a:extLst>
          </p:cNvPr>
          <p:cNvSpPr txBox="1"/>
          <p:nvPr/>
        </p:nvSpPr>
        <p:spPr>
          <a:xfrm>
            <a:off x="430389" y="1761068"/>
            <a:ext cx="11331222" cy="1615827"/>
          </a:xfrm>
          <a:prstGeom prst="rect">
            <a:avLst/>
          </a:prstGeom>
          <a:noFill/>
        </p:spPr>
        <p:txBody>
          <a:bodyPr wrap="square">
            <a:spAutoFit/>
          </a:bodyPr>
          <a:lstStyle/>
          <a:p>
            <a:pPr>
              <a:lnSpc>
                <a:spcPct val="150000"/>
              </a:lnSpc>
            </a:pPr>
            <a:r>
              <a:rPr lang="en-US" dirty="0">
                <a:solidFill>
                  <a:schemeClr val="bg1"/>
                </a:solidFill>
              </a:rPr>
              <a:t>This project uses </a:t>
            </a:r>
            <a:r>
              <a:rPr lang="en-US" b="1" dirty="0">
                <a:solidFill>
                  <a:schemeClr val="bg1"/>
                </a:solidFill>
              </a:rPr>
              <a:t>YOLO11 </a:t>
            </a:r>
            <a:r>
              <a:rPr lang="en-US" dirty="0">
                <a:solidFill>
                  <a:schemeClr val="bg1"/>
                </a:solidFill>
              </a:rPr>
              <a:t>and a </a:t>
            </a:r>
            <a:r>
              <a:rPr lang="en-US" b="1" dirty="0">
                <a:solidFill>
                  <a:schemeClr val="bg1"/>
                </a:solidFill>
              </a:rPr>
              <a:t>Low-Cost Camera </a:t>
            </a:r>
            <a:r>
              <a:rPr lang="en-US" dirty="0">
                <a:solidFill>
                  <a:schemeClr val="bg1"/>
                </a:solidFill>
              </a:rPr>
              <a:t>(ESP32) to create a system that  sees the fall, analyzes the situation instantly without human help and trigger buzzer and send Alerts to caregiver via Telegram only when a fall is detected.</a:t>
            </a:r>
          </a:p>
          <a:p>
            <a:pPr>
              <a:buNone/>
            </a:pPr>
            <a:endParaRPr lang="en-US" dirty="0">
              <a:solidFill>
                <a:schemeClr val="bg1"/>
              </a:solidFill>
            </a:endParaRPr>
          </a:p>
        </p:txBody>
      </p:sp>
    </p:spTree>
    <p:extLst>
      <p:ext uri="{BB962C8B-B14F-4D97-AF65-F5344CB8AC3E}">
        <p14:creationId xmlns:p14="http://schemas.microsoft.com/office/powerpoint/2010/main" val="1479475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FC718-B115-CBA6-84C5-0A146EEDB59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F53AA58-3F1F-3DF5-BF3E-27B163255D30}"/>
              </a:ext>
            </a:extLst>
          </p:cNvPr>
          <p:cNvSpPr>
            <a:spLocks noGrp="1"/>
          </p:cNvSpPr>
          <p:nvPr>
            <p:ph type="title"/>
          </p:nvPr>
        </p:nvSpPr>
        <p:spPr>
          <a:xfrm>
            <a:off x="444500" y="542925"/>
            <a:ext cx="11214100" cy="535531"/>
          </a:xfrm>
        </p:spPr>
        <p:txBody>
          <a:bodyPr/>
          <a:lstStyle/>
          <a:p>
            <a:r>
              <a:rPr lang="en-GB" dirty="0"/>
              <a:t>Dataset Used</a:t>
            </a:r>
            <a:endParaRPr lang="en-US" dirty="0"/>
          </a:p>
        </p:txBody>
      </p:sp>
      <p:sp>
        <p:nvSpPr>
          <p:cNvPr id="2" name="Slide Number Placeholder 1">
            <a:extLst>
              <a:ext uri="{FF2B5EF4-FFF2-40B4-BE49-F238E27FC236}">
                <a16:creationId xmlns:a16="http://schemas.microsoft.com/office/drawing/2014/main" id="{67BD5B8C-2CF0-F83F-96F3-D1722CC1E692}"/>
              </a:ext>
            </a:extLst>
          </p:cNvPr>
          <p:cNvSpPr>
            <a:spLocks noGrp="1"/>
          </p:cNvSpPr>
          <p:nvPr>
            <p:ph type="sldNum" sz="quarter" idx="12"/>
          </p:nvPr>
        </p:nvSpPr>
        <p:spPr/>
        <p:txBody>
          <a:bodyPr/>
          <a:lstStyle/>
          <a:p>
            <a:fld id="{C263D6C4-4840-40CC-AC84-17E24B3B7BDE}" type="slidenum">
              <a:rPr lang="en-US" smtClean="0"/>
              <a:pPr/>
              <a:t>8</a:t>
            </a:fld>
            <a:endParaRPr lang="en-US" dirty="0"/>
          </a:p>
        </p:txBody>
      </p:sp>
      <p:sp>
        <p:nvSpPr>
          <p:cNvPr id="6" name="TextBox 5">
            <a:extLst>
              <a:ext uri="{FF2B5EF4-FFF2-40B4-BE49-F238E27FC236}">
                <a16:creationId xmlns:a16="http://schemas.microsoft.com/office/drawing/2014/main" id="{5C3131B9-50EB-CC41-F4E0-C37FD91991EF}"/>
              </a:ext>
            </a:extLst>
          </p:cNvPr>
          <p:cNvSpPr txBox="1"/>
          <p:nvPr/>
        </p:nvSpPr>
        <p:spPr>
          <a:xfrm>
            <a:off x="678461" y="2265604"/>
            <a:ext cx="8805862" cy="3228063"/>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UR-</a:t>
            </a:r>
            <a:r>
              <a:rPr lang="en-US" altLang="en-US" dirty="0">
                <a:solidFill>
                  <a:schemeClr val="bg1"/>
                </a:solidFill>
                <a:latin typeface="Times New Roman" panose="02020603050405020304" pitchFamily="18" charset="0"/>
                <a:cs typeface="Times New Roman" panose="02020603050405020304" pitchFamily="18" charset="0"/>
              </a:rPr>
              <a:t>fall-detection-</a:t>
            </a:r>
            <a:r>
              <a:rPr kumimoji="0" lang="en-US" altLang="en-US" sz="1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dataset aggregating </a:t>
            </a:r>
            <a:r>
              <a:rPr lang="en-US" altLang="en-US" dirty="0">
                <a:solidFill>
                  <a:schemeClr val="bg1"/>
                </a:solidFill>
                <a:latin typeface="Times New Roman" panose="02020603050405020304" pitchFamily="18" charset="0"/>
                <a:cs typeface="Times New Roman" panose="02020603050405020304" pitchFamily="18" charset="0"/>
              </a:rPr>
              <a:t>11936 </a:t>
            </a:r>
            <a:r>
              <a:rPr kumimoji="0" lang="en-US" altLang="en-US" sz="1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images it contains 2995 fall image and 8941 non fall </a:t>
            </a:r>
          </a:p>
          <a:p>
            <a:r>
              <a:rPr lang="en-US" dirty="0">
                <a:solidFill>
                  <a:schemeClr val="bg1"/>
                </a:solidFill>
              </a:rPr>
              <a:t>Class Index Mapping</a:t>
            </a:r>
          </a:p>
          <a:p>
            <a:endParaRPr lang="en-US" dirty="0">
              <a:solidFill>
                <a:schemeClr val="bg1"/>
              </a:solidFill>
            </a:endParaRPr>
          </a:p>
          <a:p>
            <a:r>
              <a:rPr lang="en-US" dirty="0">
                <a:solidFill>
                  <a:schemeClr val="bg1"/>
                </a:solidFill>
              </a:rPr>
              <a:t>Class 0: Violence</a:t>
            </a:r>
          </a:p>
          <a:p>
            <a:r>
              <a:rPr lang="en-US" dirty="0">
                <a:solidFill>
                  <a:schemeClr val="bg1"/>
                </a:solidFill>
              </a:rPr>
              <a:t>Class 1: fall</a:t>
            </a:r>
          </a:p>
          <a:p>
            <a:r>
              <a:rPr lang="en-US" dirty="0">
                <a:solidFill>
                  <a:schemeClr val="bg1"/>
                </a:solidFill>
              </a:rPr>
              <a:t>Class 2: sit</a:t>
            </a:r>
          </a:p>
          <a:p>
            <a:r>
              <a:rPr lang="en-US" dirty="0">
                <a:solidFill>
                  <a:schemeClr val="bg1"/>
                </a:solidFill>
              </a:rPr>
              <a:t>Class 5: standing</a:t>
            </a:r>
          </a:p>
          <a:p>
            <a:endParaRPr lang="en-US" dirty="0">
              <a:solidFill>
                <a:schemeClr val="bg1"/>
              </a:solidFill>
            </a:endParaRPr>
          </a:p>
          <a:p>
            <a:pPr marL="0" marR="0" lvl="0" indent="0" algn="l"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Training : 80% , Test :10% ,Val :10%</a:t>
            </a:r>
            <a:endParaRPr kumimoji="0" lang="en-US" altLang="en-US" sz="1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8067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40A52E22-993F-2DB4-5C3F-A588BF51DEE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ACB19CB-5FD9-CB0A-965C-DA351460E8C3}"/>
              </a:ext>
            </a:extLst>
          </p:cNvPr>
          <p:cNvSpPr>
            <a:spLocks noGrp="1"/>
          </p:cNvSpPr>
          <p:nvPr>
            <p:ph type="title"/>
          </p:nvPr>
        </p:nvSpPr>
        <p:spPr>
          <a:xfrm>
            <a:off x="444500" y="542925"/>
            <a:ext cx="11214100" cy="535531"/>
          </a:xfrm>
        </p:spPr>
        <p:txBody>
          <a:bodyPr/>
          <a:lstStyle/>
          <a:p>
            <a:r>
              <a:rPr lang="en-IN" dirty="0"/>
              <a:t>Workflow </a:t>
            </a:r>
            <a:endParaRPr lang="en-US" dirty="0"/>
          </a:p>
        </p:txBody>
      </p:sp>
      <p:sp>
        <p:nvSpPr>
          <p:cNvPr id="2" name="Slide Number Placeholder 1">
            <a:extLst>
              <a:ext uri="{FF2B5EF4-FFF2-40B4-BE49-F238E27FC236}">
                <a16:creationId xmlns:a16="http://schemas.microsoft.com/office/drawing/2014/main" id="{3BBE7700-9F0A-8018-42C9-B0DB532B0AC1}"/>
              </a:ext>
            </a:extLst>
          </p:cNvPr>
          <p:cNvSpPr>
            <a:spLocks noGrp="1"/>
          </p:cNvSpPr>
          <p:nvPr>
            <p:ph type="sldNum" sz="quarter" idx="12"/>
          </p:nvPr>
        </p:nvSpPr>
        <p:spPr/>
        <p:txBody>
          <a:bodyPr/>
          <a:lstStyle/>
          <a:p>
            <a:fld id="{C263D6C4-4840-40CC-AC84-17E24B3B7BDE}" type="slidenum">
              <a:rPr lang="en-US" smtClean="0"/>
              <a:pPr/>
              <a:t>9</a:t>
            </a:fld>
            <a:endParaRPr lang="en-US" dirty="0"/>
          </a:p>
        </p:txBody>
      </p:sp>
      <p:sp>
        <p:nvSpPr>
          <p:cNvPr id="11" name="TextBox 10">
            <a:extLst>
              <a:ext uri="{FF2B5EF4-FFF2-40B4-BE49-F238E27FC236}">
                <a16:creationId xmlns:a16="http://schemas.microsoft.com/office/drawing/2014/main" id="{2BBFEA08-0BD5-BF66-427E-90D7E0D22A28}"/>
              </a:ext>
            </a:extLst>
          </p:cNvPr>
          <p:cNvSpPr txBox="1"/>
          <p:nvPr/>
        </p:nvSpPr>
        <p:spPr>
          <a:xfrm>
            <a:off x="251209" y="542925"/>
            <a:ext cx="6712624" cy="369332"/>
          </a:xfrm>
          <a:prstGeom prst="rect">
            <a:avLst/>
          </a:prstGeom>
          <a:noFill/>
        </p:spPr>
        <p:txBody>
          <a:bodyPr wrap="square">
            <a:spAutoFit/>
          </a:bodyPr>
          <a:lstStyle/>
          <a:p>
            <a:pPr>
              <a:buNone/>
            </a:pPr>
            <a:endParaRPr lang="en-US" dirty="0">
              <a:solidFill>
                <a:schemeClr val="bg1"/>
              </a:solidFill>
            </a:endParaRPr>
          </a:p>
        </p:txBody>
      </p:sp>
      <p:pic>
        <p:nvPicPr>
          <p:cNvPr id="3074" name="Picture 2" descr="Camera ">
            <a:extLst>
              <a:ext uri="{FF2B5EF4-FFF2-40B4-BE49-F238E27FC236}">
                <a16:creationId xmlns:a16="http://schemas.microsoft.com/office/drawing/2014/main" id="{1F81DCE9-2AB1-FEFD-5B36-A716070197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858" y="1833754"/>
            <a:ext cx="1023756" cy="1023756"/>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Video ">
            <a:extLst>
              <a:ext uri="{FF2B5EF4-FFF2-40B4-BE49-F238E27FC236}">
                <a16:creationId xmlns:a16="http://schemas.microsoft.com/office/drawing/2014/main" id="{47F3A361-E9C5-E7EA-A1B7-B207F40EE4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68800" y="1867965"/>
            <a:ext cx="1023756" cy="1023756"/>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Yolo ">
            <a:extLst>
              <a:ext uri="{FF2B5EF4-FFF2-40B4-BE49-F238E27FC236}">
                <a16:creationId xmlns:a16="http://schemas.microsoft.com/office/drawing/2014/main" id="{4F08DAE3-EE39-65C0-4E4D-F9AEC788179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63833" y="1736032"/>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Alerts ">
            <a:extLst>
              <a:ext uri="{FF2B5EF4-FFF2-40B4-BE49-F238E27FC236}">
                <a16:creationId xmlns:a16="http://schemas.microsoft.com/office/drawing/2014/main" id="{2C6A6D53-EF4E-F7AC-B441-75A8C361271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68800" y="4284823"/>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Telegram ">
            <a:extLst>
              <a:ext uri="{FF2B5EF4-FFF2-40B4-BE49-F238E27FC236}">
                <a16:creationId xmlns:a16="http://schemas.microsoft.com/office/drawing/2014/main" id="{8EFF945C-3411-6613-68E0-E3A711C9338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58404" y="4165600"/>
            <a:ext cx="1095713" cy="1095713"/>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2BFA3793-E3B6-65DF-55C5-FD62BB80A60F}"/>
              </a:ext>
            </a:extLst>
          </p:cNvPr>
          <p:cNvCxnSpPr>
            <a:cxnSpLocks/>
          </p:cNvCxnSpPr>
          <p:nvPr/>
        </p:nvCxnSpPr>
        <p:spPr>
          <a:xfrm>
            <a:off x="2393935" y="2506134"/>
            <a:ext cx="178295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F1044B7B-05E2-C0CB-9AFC-C92CADF47274}"/>
              </a:ext>
            </a:extLst>
          </p:cNvPr>
          <p:cNvCxnSpPr>
            <a:cxnSpLocks/>
          </p:cNvCxnSpPr>
          <p:nvPr/>
        </p:nvCxnSpPr>
        <p:spPr>
          <a:xfrm>
            <a:off x="5418306" y="2506134"/>
            <a:ext cx="135538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ED14660E-761E-1876-DEFB-E5BD399DA719}"/>
              </a:ext>
            </a:extLst>
          </p:cNvPr>
          <p:cNvCxnSpPr>
            <a:cxnSpLocks/>
          </p:cNvCxnSpPr>
          <p:nvPr/>
        </p:nvCxnSpPr>
        <p:spPr>
          <a:xfrm flipH="1">
            <a:off x="5747098" y="4933245"/>
            <a:ext cx="134304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329573B-1DF5-8199-3C49-431A8D03A3D5}"/>
              </a:ext>
            </a:extLst>
          </p:cNvPr>
          <p:cNvCxnSpPr>
            <a:cxnSpLocks/>
          </p:cNvCxnSpPr>
          <p:nvPr/>
        </p:nvCxnSpPr>
        <p:spPr>
          <a:xfrm flipV="1">
            <a:off x="8432802" y="4827034"/>
            <a:ext cx="1491445" cy="1834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0CBD64A-19F8-2E65-2D63-198D939C4136}"/>
              </a:ext>
            </a:extLst>
          </p:cNvPr>
          <p:cNvCxnSpPr>
            <a:cxnSpLocks/>
          </p:cNvCxnSpPr>
          <p:nvPr/>
        </p:nvCxnSpPr>
        <p:spPr>
          <a:xfrm>
            <a:off x="7721600" y="3429000"/>
            <a:ext cx="0" cy="7366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98F56495-70D4-DD5C-46B7-27AB0DFE30C8}"/>
              </a:ext>
            </a:extLst>
          </p:cNvPr>
          <p:cNvSpPr txBox="1"/>
          <p:nvPr/>
        </p:nvSpPr>
        <p:spPr>
          <a:xfrm>
            <a:off x="444500" y="3059668"/>
            <a:ext cx="1937453" cy="369332"/>
          </a:xfrm>
          <a:prstGeom prst="rect">
            <a:avLst/>
          </a:prstGeom>
          <a:noFill/>
        </p:spPr>
        <p:txBody>
          <a:bodyPr wrap="none" rtlCol="0">
            <a:spAutoFit/>
          </a:bodyPr>
          <a:lstStyle/>
          <a:p>
            <a:r>
              <a:rPr lang="en-IN" dirty="0"/>
              <a:t>Video Acquisition</a:t>
            </a:r>
          </a:p>
        </p:txBody>
      </p:sp>
      <p:sp>
        <p:nvSpPr>
          <p:cNvPr id="21" name="TextBox 20">
            <a:extLst>
              <a:ext uri="{FF2B5EF4-FFF2-40B4-BE49-F238E27FC236}">
                <a16:creationId xmlns:a16="http://schemas.microsoft.com/office/drawing/2014/main" id="{B97F3F70-EDD3-09B9-8105-899603005643}"/>
              </a:ext>
            </a:extLst>
          </p:cNvPr>
          <p:cNvSpPr txBox="1"/>
          <p:nvPr/>
        </p:nvSpPr>
        <p:spPr>
          <a:xfrm>
            <a:off x="4053047" y="2970035"/>
            <a:ext cx="2056973" cy="369332"/>
          </a:xfrm>
          <a:prstGeom prst="rect">
            <a:avLst/>
          </a:prstGeom>
          <a:noFill/>
        </p:spPr>
        <p:txBody>
          <a:bodyPr wrap="none" rtlCol="0">
            <a:spAutoFit/>
          </a:bodyPr>
          <a:lstStyle/>
          <a:p>
            <a:r>
              <a:rPr lang="en-IN" dirty="0"/>
              <a:t>Frame Processing</a:t>
            </a:r>
          </a:p>
        </p:txBody>
      </p:sp>
      <p:sp>
        <p:nvSpPr>
          <p:cNvPr id="22" name="TextBox 21">
            <a:extLst>
              <a:ext uri="{FF2B5EF4-FFF2-40B4-BE49-F238E27FC236}">
                <a16:creationId xmlns:a16="http://schemas.microsoft.com/office/drawing/2014/main" id="{8E41115D-84B7-3971-529C-01D824FA00C2}"/>
              </a:ext>
            </a:extLst>
          </p:cNvPr>
          <p:cNvSpPr txBox="1"/>
          <p:nvPr/>
        </p:nvSpPr>
        <p:spPr>
          <a:xfrm>
            <a:off x="6544946" y="2933886"/>
            <a:ext cx="2480231" cy="369332"/>
          </a:xfrm>
          <a:prstGeom prst="rect">
            <a:avLst/>
          </a:prstGeom>
          <a:noFill/>
        </p:spPr>
        <p:txBody>
          <a:bodyPr wrap="none" rtlCol="0">
            <a:spAutoFit/>
          </a:bodyPr>
          <a:lstStyle/>
          <a:p>
            <a:r>
              <a:rPr lang="en-IN" dirty="0"/>
              <a:t>Fall Detection using AI</a:t>
            </a:r>
          </a:p>
        </p:txBody>
      </p:sp>
      <p:sp>
        <p:nvSpPr>
          <p:cNvPr id="23" name="TextBox 22">
            <a:extLst>
              <a:ext uri="{FF2B5EF4-FFF2-40B4-BE49-F238E27FC236}">
                <a16:creationId xmlns:a16="http://schemas.microsoft.com/office/drawing/2014/main" id="{09073569-6538-26B1-BA97-999D20C48246}"/>
              </a:ext>
            </a:extLst>
          </p:cNvPr>
          <p:cNvSpPr txBox="1"/>
          <p:nvPr/>
        </p:nvSpPr>
        <p:spPr>
          <a:xfrm>
            <a:off x="6544946" y="5574812"/>
            <a:ext cx="2544286" cy="369332"/>
          </a:xfrm>
          <a:prstGeom prst="rect">
            <a:avLst/>
          </a:prstGeom>
          <a:noFill/>
        </p:spPr>
        <p:txBody>
          <a:bodyPr wrap="none" rtlCol="0">
            <a:spAutoFit/>
          </a:bodyPr>
          <a:lstStyle/>
          <a:p>
            <a:r>
              <a:rPr lang="en-IN" dirty="0"/>
              <a:t>Fall Confirmation Logic</a:t>
            </a:r>
          </a:p>
        </p:txBody>
      </p:sp>
      <p:sp>
        <p:nvSpPr>
          <p:cNvPr id="24" name="TextBox 23">
            <a:extLst>
              <a:ext uri="{FF2B5EF4-FFF2-40B4-BE49-F238E27FC236}">
                <a16:creationId xmlns:a16="http://schemas.microsoft.com/office/drawing/2014/main" id="{F37E8BE0-2064-5525-BB61-C5AABF2707EF}"/>
              </a:ext>
            </a:extLst>
          </p:cNvPr>
          <p:cNvSpPr txBox="1"/>
          <p:nvPr/>
        </p:nvSpPr>
        <p:spPr>
          <a:xfrm>
            <a:off x="4053046" y="5581811"/>
            <a:ext cx="1864613" cy="369332"/>
          </a:xfrm>
          <a:prstGeom prst="rect">
            <a:avLst/>
          </a:prstGeom>
          <a:noFill/>
        </p:spPr>
        <p:txBody>
          <a:bodyPr wrap="none" rtlCol="0">
            <a:spAutoFit/>
          </a:bodyPr>
          <a:lstStyle/>
          <a:p>
            <a:r>
              <a:rPr lang="en-IN" dirty="0"/>
              <a:t>Alert Generation</a:t>
            </a:r>
          </a:p>
        </p:txBody>
      </p:sp>
      <p:sp>
        <p:nvSpPr>
          <p:cNvPr id="25" name="TextBox 24">
            <a:extLst>
              <a:ext uri="{FF2B5EF4-FFF2-40B4-BE49-F238E27FC236}">
                <a16:creationId xmlns:a16="http://schemas.microsoft.com/office/drawing/2014/main" id="{C336256B-0CC4-DDA3-5714-F0C46BD87751}"/>
              </a:ext>
            </a:extLst>
          </p:cNvPr>
          <p:cNvSpPr txBox="1"/>
          <p:nvPr/>
        </p:nvSpPr>
        <p:spPr>
          <a:xfrm>
            <a:off x="9526477" y="5504023"/>
            <a:ext cx="2159566" cy="369332"/>
          </a:xfrm>
          <a:prstGeom prst="rect">
            <a:avLst/>
          </a:prstGeom>
          <a:noFill/>
        </p:spPr>
        <p:txBody>
          <a:bodyPr wrap="none" rtlCol="0">
            <a:spAutoFit/>
          </a:bodyPr>
          <a:lstStyle/>
          <a:p>
            <a:r>
              <a:rPr lang="en-IN" dirty="0"/>
              <a:t>Notification System</a:t>
            </a:r>
          </a:p>
        </p:txBody>
      </p:sp>
      <p:pic>
        <p:nvPicPr>
          <p:cNvPr id="1026" name="Picture 2" descr="Engineering">
            <a:extLst>
              <a:ext uri="{FF2B5EF4-FFF2-40B4-BE49-F238E27FC236}">
                <a16:creationId xmlns:a16="http://schemas.microsoft.com/office/drawing/2014/main" id="{A5D460CA-E586-F601-A180-D8FB29EEB13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8858" y="4006164"/>
            <a:ext cx="1219200" cy="12192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C6F0C708-CE87-CF4A-1EB2-4437AEB2B9FF}"/>
              </a:ext>
            </a:extLst>
          </p:cNvPr>
          <p:cNvSpPr txBox="1"/>
          <p:nvPr/>
        </p:nvSpPr>
        <p:spPr>
          <a:xfrm>
            <a:off x="505957" y="5319357"/>
            <a:ext cx="1659429" cy="369332"/>
          </a:xfrm>
          <a:prstGeom prst="rect">
            <a:avLst/>
          </a:prstGeom>
          <a:noFill/>
        </p:spPr>
        <p:txBody>
          <a:bodyPr wrap="none" rtlCol="0">
            <a:spAutoFit/>
          </a:bodyPr>
          <a:lstStyle/>
          <a:p>
            <a:r>
              <a:rPr lang="en-US" dirty="0"/>
              <a:t>Preprocessing</a:t>
            </a:r>
            <a:endParaRPr lang="en-IN" dirty="0"/>
          </a:p>
        </p:txBody>
      </p:sp>
      <p:pic>
        <p:nvPicPr>
          <p:cNvPr id="14" name="Picture 13">
            <a:extLst>
              <a:ext uri="{FF2B5EF4-FFF2-40B4-BE49-F238E27FC236}">
                <a16:creationId xmlns:a16="http://schemas.microsoft.com/office/drawing/2014/main" id="{A172B2AE-E886-C246-07A2-FB7512E6FBD0}"/>
              </a:ext>
            </a:extLst>
          </p:cNvPr>
          <p:cNvPicPr>
            <a:picLocks noChangeAspect="1"/>
          </p:cNvPicPr>
          <p:nvPr/>
        </p:nvPicPr>
        <p:blipFill>
          <a:blip r:embed="rId9"/>
          <a:stretch>
            <a:fillRect/>
          </a:stretch>
        </p:blipFill>
        <p:spPr>
          <a:xfrm>
            <a:off x="7230651" y="4385388"/>
            <a:ext cx="1095714" cy="1095714"/>
          </a:xfrm>
          <a:prstGeom prst="rect">
            <a:avLst/>
          </a:prstGeom>
        </p:spPr>
      </p:pic>
      <p:sp>
        <p:nvSpPr>
          <p:cNvPr id="19" name="Rectangle 18">
            <a:extLst>
              <a:ext uri="{FF2B5EF4-FFF2-40B4-BE49-F238E27FC236}">
                <a16:creationId xmlns:a16="http://schemas.microsoft.com/office/drawing/2014/main" id="{B22351B7-5866-D2AF-E69E-B918808BCF29}"/>
              </a:ext>
            </a:extLst>
          </p:cNvPr>
          <p:cNvSpPr/>
          <p:nvPr/>
        </p:nvSpPr>
        <p:spPr>
          <a:xfrm>
            <a:off x="386431" y="1571625"/>
            <a:ext cx="2056973" cy="4379518"/>
          </a:xfrm>
          <a:prstGeom prst="rect">
            <a:avLst/>
          </a:prstGeom>
          <a:noFill/>
          <a:ln>
            <a:solidFill>
              <a:schemeClr val="tx1"/>
            </a:solidFill>
          </a:ln>
          <a:scene3d>
            <a:camera prst="perspectiveFront"/>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7" name="Picture 26">
            <a:extLst>
              <a:ext uri="{FF2B5EF4-FFF2-40B4-BE49-F238E27FC236}">
                <a16:creationId xmlns:a16="http://schemas.microsoft.com/office/drawing/2014/main" id="{DA644F19-1DA7-8F5D-8991-FAB4B4A53932}"/>
              </a:ext>
            </a:extLst>
          </p:cNvPr>
          <p:cNvPicPr>
            <a:picLocks noChangeAspect="1"/>
          </p:cNvPicPr>
          <p:nvPr/>
        </p:nvPicPr>
        <p:blipFill>
          <a:blip r:embed="rId10"/>
          <a:srcRect b="13559"/>
          <a:stretch>
            <a:fillRect/>
          </a:stretch>
        </p:blipFill>
        <p:spPr>
          <a:xfrm>
            <a:off x="3878" y="1405426"/>
            <a:ext cx="12136378" cy="4804874"/>
          </a:xfrm>
          <a:prstGeom prst="rect">
            <a:avLst/>
          </a:prstGeom>
        </p:spPr>
      </p:pic>
    </p:spTree>
    <p:extLst>
      <p:ext uri="{BB962C8B-B14F-4D97-AF65-F5344CB8AC3E}">
        <p14:creationId xmlns:p14="http://schemas.microsoft.com/office/powerpoint/2010/main" val="436860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246D5-0C5E-8CA1-5755-7D2B57EE2F2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FBF496D-1DFE-F93A-583B-9FE6F952DEBF}"/>
              </a:ext>
            </a:extLst>
          </p:cNvPr>
          <p:cNvSpPr>
            <a:spLocks noGrp="1"/>
          </p:cNvSpPr>
          <p:nvPr>
            <p:ph type="title"/>
          </p:nvPr>
        </p:nvSpPr>
        <p:spPr>
          <a:xfrm>
            <a:off x="444500" y="542925"/>
            <a:ext cx="11214100" cy="535531"/>
          </a:xfrm>
        </p:spPr>
        <p:txBody>
          <a:bodyPr/>
          <a:lstStyle/>
          <a:p>
            <a:r>
              <a:rPr lang="en-US" dirty="0"/>
              <a:t>workflow</a:t>
            </a:r>
          </a:p>
        </p:txBody>
      </p:sp>
      <p:sp>
        <p:nvSpPr>
          <p:cNvPr id="2" name="Slide Number Placeholder 1">
            <a:extLst>
              <a:ext uri="{FF2B5EF4-FFF2-40B4-BE49-F238E27FC236}">
                <a16:creationId xmlns:a16="http://schemas.microsoft.com/office/drawing/2014/main" id="{D3585847-4C33-1681-E3DB-96A12D5EF1EC}"/>
              </a:ext>
            </a:extLst>
          </p:cNvPr>
          <p:cNvSpPr>
            <a:spLocks noGrp="1"/>
          </p:cNvSpPr>
          <p:nvPr>
            <p:ph type="sldNum" sz="quarter" idx="12"/>
          </p:nvPr>
        </p:nvSpPr>
        <p:spPr/>
        <p:txBody>
          <a:bodyPr/>
          <a:lstStyle/>
          <a:p>
            <a:fld id="{C263D6C4-4840-40CC-AC84-17E24B3B7BDE}" type="slidenum">
              <a:rPr lang="en-US" smtClean="0"/>
              <a:pPr/>
              <a:t>10</a:t>
            </a:fld>
            <a:endParaRPr lang="en-US" dirty="0"/>
          </a:p>
        </p:txBody>
      </p:sp>
      <p:sp>
        <p:nvSpPr>
          <p:cNvPr id="5" name="TextBox 4">
            <a:extLst>
              <a:ext uri="{FF2B5EF4-FFF2-40B4-BE49-F238E27FC236}">
                <a16:creationId xmlns:a16="http://schemas.microsoft.com/office/drawing/2014/main" id="{C0089AD3-C30A-106D-B092-92278DCEEBE2}"/>
              </a:ext>
            </a:extLst>
          </p:cNvPr>
          <p:cNvSpPr txBox="1"/>
          <p:nvPr/>
        </p:nvSpPr>
        <p:spPr>
          <a:xfrm>
            <a:off x="444500" y="1419324"/>
            <a:ext cx="11214100" cy="4663328"/>
          </a:xfrm>
          <a:prstGeom prst="rect">
            <a:avLst/>
          </a:prstGeom>
          <a:noFill/>
        </p:spPr>
        <p:txBody>
          <a:bodyPr wrap="square">
            <a:spAutoFit/>
          </a:bodyPr>
          <a:lstStyle/>
          <a:p>
            <a:pPr>
              <a:lnSpc>
                <a:spcPct val="150000"/>
              </a:lnSpc>
              <a:buNone/>
            </a:pPr>
            <a:r>
              <a:rPr lang="en-US" b="1" dirty="0">
                <a:solidFill>
                  <a:schemeClr val="bg1"/>
                </a:solidFill>
              </a:rPr>
              <a:t>Step 1: Video Capture</a:t>
            </a:r>
          </a:p>
          <a:p>
            <a:pPr lvl="1">
              <a:lnSpc>
                <a:spcPct val="150000"/>
              </a:lnSpc>
              <a:buFont typeface="Arial" panose="020B0604020202020204" pitchFamily="34" charset="0"/>
              <a:buChar char="•"/>
            </a:pPr>
            <a:r>
              <a:rPr lang="en-US" sz="1600" dirty="0">
                <a:solidFill>
                  <a:schemeClr val="bg1"/>
                </a:solidFill>
              </a:rPr>
              <a:t>The ESP32-CAM / system camera captures real-time video of the monitored environment</a:t>
            </a:r>
          </a:p>
          <a:p>
            <a:pPr>
              <a:lnSpc>
                <a:spcPct val="150000"/>
              </a:lnSpc>
              <a:buNone/>
            </a:pPr>
            <a:r>
              <a:rPr lang="en-US" b="1" dirty="0">
                <a:solidFill>
                  <a:schemeClr val="bg1"/>
                </a:solidFill>
              </a:rPr>
              <a:t>Step 2: Preprocessing</a:t>
            </a:r>
          </a:p>
          <a:p>
            <a:pPr lvl="1">
              <a:lnSpc>
                <a:spcPct val="150000"/>
              </a:lnSpc>
              <a:buFont typeface="Arial" panose="020B0604020202020204" pitchFamily="34" charset="0"/>
              <a:buChar char="•"/>
            </a:pPr>
            <a:r>
              <a:rPr lang="en-US" sz="1600" dirty="0">
                <a:solidFill>
                  <a:schemeClr val="bg1"/>
                </a:solidFill>
              </a:rPr>
              <a:t>The ESP32-CAM's internal hardware (the OV2640 sensor) takes the raw data and compresses it into a JPEG.</a:t>
            </a:r>
          </a:p>
          <a:p>
            <a:pPr lvl="1">
              <a:lnSpc>
                <a:spcPct val="150000"/>
              </a:lnSpc>
              <a:buFont typeface="Arial" panose="020B0604020202020204" pitchFamily="34" charset="0"/>
              <a:buChar char="•"/>
            </a:pPr>
            <a:r>
              <a:rPr lang="en-US" sz="1600" dirty="0">
                <a:solidFill>
                  <a:schemeClr val="bg1"/>
                </a:solidFill>
              </a:rPr>
              <a:t>Captured high resolution frames are scales  down to </a:t>
            </a:r>
            <a:r>
              <a:rPr lang="en-US" sz="1600" b="1" dirty="0">
                <a:solidFill>
                  <a:schemeClr val="bg1"/>
                </a:solidFill>
              </a:rPr>
              <a:t>320x240 pixels</a:t>
            </a:r>
            <a:r>
              <a:rPr lang="en-US" sz="1600" dirty="0">
                <a:solidFill>
                  <a:schemeClr val="bg1"/>
                </a:solidFill>
              </a:rPr>
              <a:t>.</a:t>
            </a:r>
          </a:p>
          <a:p>
            <a:pPr lvl="1">
              <a:lnSpc>
                <a:spcPct val="150000"/>
              </a:lnSpc>
              <a:buFont typeface="Arial" panose="020B0604020202020204" pitchFamily="34" charset="0"/>
              <a:buChar char="•"/>
            </a:pPr>
            <a:r>
              <a:rPr lang="en-IN" sz="1600" dirty="0">
                <a:solidFill>
                  <a:schemeClr val="bg1"/>
                </a:solidFill>
              </a:rPr>
              <a:t>Image Normalization</a:t>
            </a:r>
            <a:endParaRPr lang="en-US" sz="1600" dirty="0">
              <a:solidFill>
                <a:schemeClr val="bg1"/>
              </a:solidFill>
            </a:endParaRPr>
          </a:p>
          <a:p>
            <a:pPr>
              <a:lnSpc>
                <a:spcPct val="150000"/>
              </a:lnSpc>
              <a:buNone/>
            </a:pPr>
            <a:r>
              <a:rPr lang="en-US" b="1" dirty="0">
                <a:solidFill>
                  <a:schemeClr val="bg1"/>
                </a:solidFill>
              </a:rPr>
              <a:t>Step 3: Frame Processing</a:t>
            </a:r>
          </a:p>
          <a:p>
            <a:pPr lvl="1">
              <a:lnSpc>
                <a:spcPct val="150000"/>
              </a:lnSpc>
              <a:buFont typeface="Arial" panose="020B0604020202020204" pitchFamily="34" charset="0"/>
              <a:buChar char="•"/>
            </a:pPr>
            <a:r>
              <a:rPr lang="en-US" sz="1600" dirty="0">
                <a:solidFill>
                  <a:schemeClr val="bg1"/>
                </a:solidFill>
              </a:rPr>
              <a:t>Video stream is divided into individual frames</a:t>
            </a:r>
          </a:p>
          <a:p>
            <a:pPr lvl="1">
              <a:lnSpc>
                <a:spcPct val="150000"/>
              </a:lnSpc>
              <a:buFont typeface="Arial" panose="020B0604020202020204" pitchFamily="34" charset="0"/>
              <a:buChar char="•"/>
            </a:pPr>
            <a:r>
              <a:rPr lang="en-US" sz="1600" dirty="0">
                <a:solidFill>
                  <a:schemeClr val="bg1"/>
                </a:solidFill>
              </a:rPr>
              <a:t>Frames are passed to the detection system for analysis</a:t>
            </a:r>
          </a:p>
          <a:p>
            <a:pPr>
              <a:lnSpc>
                <a:spcPct val="150000"/>
              </a:lnSpc>
              <a:buNone/>
            </a:pPr>
            <a:r>
              <a:rPr lang="en-US" b="1" dirty="0">
                <a:solidFill>
                  <a:schemeClr val="bg1"/>
                </a:solidFill>
              </a:rPr>
              <a:t>Step 4: Fall Detection using AI</a:t>
            </a:r>
          </a:p>
          <a:p>
            <a:pPr lvl="1">
              <a:lnSpc>
                <a:spcPct val="150000"/>
              </a:lnSpc>
              <a:buFont typeface="Arial" panose="020B0604020202020204" pitchFamily="34" charset="0"/>
              <a:buChar char="•"/>
            </a:pPr>
            <a:r>
              <a:rPr lang="en-US" sz="1600" dirty="0">
                <a:solidFill>
                  <a:schemeClr val="bg1"/>
                </a:solidFill>
              </a:rPr>
              <a:t>Each frame is processed using a YOLO model</a:t>
            </a:r>
          </a:p>
          <a:p>
            <a:pPr lvl="1">
              <a:lnSpc>
                <a:spcPct val="150000"/>
              </a:lnSpc>
              <a:buFont typeface="Arial" panose="020B0604020202020204" pitchFamily="34" charset="0"/>
              <a:buChar char="•"/>
            </a:pPr>
            <a:r>
              <a:rPr lang="en-US" sz="1600" dirty="0">
                <a:solidFill>
                  <a:schemeClr val="bg1"/>
                </a:solidFill>
              </a:rPr>
              <a:t>The model detects human posture and identifies potential fall events</a:t>
            </a:r>
          </a:p>
        </p:txBody>
      </p:sp>
    </p:spTree>
    <p:extLst>
      <p:ext uri="{BB962C8B-B14F-4D97-AF65-F5344CB8AC3E}">
        <p14:creationId xmlns:p14="http://schemas.microsoft.com/office/powerpoint/2010/main" val="2460076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37275-1892-B429-737C-0F498DCA0AB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57CF256-6E5C-C382-E550-3619DE10EC6A}"/>
              </a:ext>
            </a:extLst>
          </p:cNvPr>
          <p:cNvSpPr>
            <a:spLocks noGrp="1"/>
          </p:cNvSpPr>
          <p:nvPr>
            <p:ph type="title"/>
          </p:nvPr>
        </p:nvSpPr>
        <p:spPr>
          <a:xfrm>
            <a:off x="444500" y="542925"/>
            <a:ext cx="11214100" cy="535531"/>
          </a:xfrm>
        </p:spPr>
        <p:txBody>
          <a:bodyPr/>
          <a:lstStyle/>
          <a:p>
            <a:r>
              <a:rPr lang="en-US" dirty="0" err="1"/>
              <a:t>Contd</a:t>
            </a:r>
            <a:r>
              <a:rPr lang="en-US" dirty="0"/>
              <a:t>…</a:t>
            </a:r>
          </a:p>
        </p:txBody>
      </p:sp>
      <p:sp>
        <p:nvSpPr>
          <p:cNvPr id="2" name="Slide Number Placeholder 1">
            <a:extLst>
              <a:ext uri="{FF2B5EF4-FFF2-40B4-BE49-F238E27FC236}">
                <a16:creationId xmlns:a16="http://schemas.microsoft.com/office/drawing/2014/main" id="{CAD34715-A866-2CF2-386C-C193C57D4A29}"/>
              </a:ext>
            </a:extLst>
          </p:cNvPr>
          <p:cNvSpPr>
            <a:spLocks noGrp="1"/>
          </p:cNvSpPr>
          <p:nvPr>
            <p:ph type="sldNum" sz="quarter" idx="12"/>
          </p:nvPr>
        </p:nvSpPr>
        <p:spPr/>
        <p:txBody>
          <a:bodyPr/>
          <a:lstStyle/>
          <a:p>
            <a:fld id="{C263D6C4-4840-40CC-AC84-17E24B3B7BDE}" type="slidenum">
              <a:rPr lang="en-US" smtClean="0"/>
              <a:pPr/>
              <a:t>11</a:t>
            </a:fld>
            <a:endParaRPr lang="en-US" dirty="0"/>
          </a:p>
        </p:txBody>
      </p:sp>
      <p:sp>
        <p:nvSpPr>
          <p:cNvPr id="3" name="TextBox 2">
            <a:extLst>
              <a:ext uri="{FF2B5EF4-FFF2-40B4-BE49-F238E27FC236}">
                <a16:creationId xmlns:a16="http://schemas.microsoft.com/office/drawing/2014/main" id="{C9D050E4-65A8-4A66-9EA7-B556A90F23E9}"/>
              </a:ext>
            </a:extLst>
          </p:cNvPr>
          <p:cNvSpPr txBox="1"/>
          <p:nvPr/>
        </p:nvSpPr>
        <p:spPr>
          <a:xfrm>
            <a:off x="860072" y="1052096"/>
            <a:ext cx="10382956" cy="5016758"/>
          </a:xfrm>
          <a:prstGeom prst="rect">
            <a:avLst/>
          </a:prstGeom>
          <a:noFill/>
        </p:spPr>
        <p:txBody>
          <a:bodyPr wrap="square">
            <a:spAutoFit/>
          </a:bodyPr>
          <a:lstStyle/>
          <a:p>
            <a:pPr>
              <a:buNone/>
            </a:pPr>
            <a:br>
              <a:rPr lang="en-US" sz="1600" dirty="0">
                <a:solidFill>
                  <a:schemeClr val="bg1"/>
                </a:solidFill>
              </a:rPr>
            </a:br>
            <a:r>
              <a:rPr lang="en-US" sz="1600" b="1" dirty="0">
                <a:solidFill>
                  <a:schemeClr val="bg1"/>
                </a:solidFill>
              </a:rPr>
              <a:t>Step 5: Fall Confirmation Logic</a:t>
            </a:r>
          </a:p>
          <a:p>
            <a:pPr>
              <a:buFont typeface="Arial" panose="020B0604020202020204" pitchFamily="34" charset="0"/>
              <a:buChar char="•"/>
            </a:pPr>
            <a:r>
              <a:rPr lang="en-US" sz="1600" dirty="0">
                <a:solidFill>
                  <a:schemeClr val="bg1"/>
                </a:solidFill>
              </a:rPr>
              <a:t>A fall is not immediately confirmed</a:t>
            </a:r>
          </a:p>
          <a:p>
            <a:pPr>
              <a:buFont typeface="Arial" panose="020B0604020202020204" pitchFamily="34" charset="0"/>
              <a:buChar char="•"/>
            </a:pPr>
            <a:r>
              <a:rPr lang="en-US" sz="1600" dirty="0">
                <a:solidFill>
                  <a:schemeClr val="bg1"/>
                </a:solidFill>
              </a:rPr>
              <a:t>The system checks if the fall condition persists for </a:t>
            </a:r>
            <a:r>
              <a:rPr lang="en-US" sz="1600" b="1" dirty="0">
                <a:solidFill>
                  <a:schemeClr val="bg1"/>
                </a:solidFill>
              </a:rPr>
              <a:t>5 seconds</a:t>
            </a:r>
            <a:endParaRPr lang="en-US" sz="1600" dirty="0">
              <a:solidFill>
                <a:schemeClr val="bg1"/>
              </a:solidFill>
            </a:endParaRPr>
          </a:p>
          <a:p>
            <a:pPr>
              <a:buFont typeface="Arial" panose="020B0604020202020204" pitchFamily="34" charset="0"/>
              <a:buChar char="•"/>
            </a:pPr>
            <a:r>
              <a:rPr lang="en-US" sz="1600" dirty="0">
                <a:solidFill>
                  <a:schemeClr val="bg1"/>
                </a:solidFill>
              </a:rPr>
              <a:t>This reduces false positives</a:t>
            </a:r>
          </a:p>
          <a:p>
            <a:pPr>
              <a:buFont typeface="Arial" panose="020B0604020202020204" pitchFamily="34" charset="0"/>
              <a:buChar char="•"/>
            </a:pPr>
            <a:endParaRPr lang="en-US" sz="1600" b="1" dirty="0">
              <a:solidFill>
                <a:schemeClr val="bg1"/>
              </a:solidFill>
            </a:endParaRPr>
          </a:p>
          <a:p>
            <a:pPr>
              <a:buNone/>
            </a:pPr>
            <a:r>
              <a:rPr lang="en-US" sz="1600" b="1" dirty="0">
                <a:solidFill>
                  <a:schemeClr val="bg1"/>
                </a:solidFill>
              </a:rPr>
              <a:t>Step 6: Alert Generation</a:t>
            </a:r>
          </a:p>
          <a:p>
            <a:pPr>
              <a:buFont typeface="Arial" panose="020B0604020202020204" pitchFamily="34" charset="0"/>
              <a:buChar char="•"/>
            </a:pPr>
            <a:r>
              <a:rPr lang="en-US" sz="1600" dirty="0">
                <a:solidFill>
                  <a:schemeClr val="bg1"/>
                </a:solidFill>
              </a:rPr>
              <a:t>Once a fall is confirmed:</a:t>
            </a:r>
          </a:p>
          <a:p>
            <a:pPr marL="742950" lvl="1" indent="-285750">
              <a:buFont typeface="Arial" panose="020B0604020202020204" pitchFamily="34" charset="0"/>
              <a:buChar char="•"/>
            </a:pPr>
            <a:r>
              <a:rPr lang="en-US" sz="1600" dirty="0">
                <a:solidFill>
                  <a:schemeClr val="bg1"/>
                </a:solidFill>
              </a:rPr>
              <a:t>Buzzer triggered</a:t>
            </a:r>
          </a:p>
          <a:p>
            <a:pPr marL="742950" lvl="1" indent="-285750">
              <a:buFont typeface="Arial" panose="020B0604020202020204" pitchFamily="34" charset="0"/>
              <a:buChar char="•"/>
            </a:pPr>
            <a:r>
              <a:rPr lang="en-US" sz="1600" dirty="0">
                <a:solidFill>
                  <a:schemeClr val="bg1"/>
                </a:solidFill>
              </a:rPr>
              <a:t>Image of the frame is captured</a:t>
            </a:r>
          </a:p>
          <a:p>
            <a:pPr>
              <a:buNone/>
            </a:pPr>
            <a:endParaRPr lang="en-US" sz="1600" dirty="0">
              <a:solidFill>
                <a:schemeClr val="bg1"/>
              </a:solidFill>
            </a:endParaRPr>
          </a:p>
          <a:p>
            <a:pPr>
              <a:buNone/>
            </a:pPr>
            <a:r>
              <a:rPr lang="en-US" sz="1600" b="1" dirty="0">
                <a:solidFill>
                  <a:schemeClr val="bg1"/>
                </a:solidFill>
              </a:rPr>
              <a:t>Step 7: Notification System</a:t>
            </a:r>
          </a:p>
          <a:p>
            <a:pPr>
              <a:buFont typeface="Arial" panose="020B0604020202020204" pitchFamily="34" charset="0"/>
              <a:buChar char="•"/>
            </a:pPr>
            <a:r>
              <a:rPr lang="en-US" sz="1600" dirty="0">
                <a:solidFill>
                  <a:schemeClr val="bg1"/>
                </a:solidFill>
              </a:rPr>
              <a:t>Alert is sent via Telegram</a:t>
            </a:r>
          </a:p>
          <a:p>
            <a:pPr>
              <a:buFont typeface="Arial" panose="020B0604020202020204" pitchFamily="34" charset="0"/>
              <a:buChar char="•"/>
            </a:pPr>
            <a:r>
              <a:rPr lang="en-US" sz="1600" dirty="0">
                <a:solidFill>
                  <a:schemeClr val="bg1"/>
                </a:solidFill>
              </a:rPr>
              <a:t>Caregivers receive:</a:t>
            </a:r>
          </a:p>
          <a:p>
            <a:pPr marL="742950" lvl="1" indent="-285750">
              <a:buFont typeface="Arial" panose="020B0604020202020204" pitchFamily="34" charset="0"/>
              <a:buChar char="•"/>
            </a:pPr>
            <a:r>
              <a:rPr lang="en-US" sz="1600" dirty="0">
                <a:solidFill>
                  <a:schemeClr val="bg1"/>
                </a:solidFill>
              </a:rPr>
              <a:t>Warning message</a:t>
            </a:r>
          </a:p>
          <a:p>
            <a:pPr marL="742950" lvl="1" indent="-285750">
              <a:buFont typeface="Arial" panose="020B0604020202020204" pitchFamily="34" charset="0"/>
              <a:buChar char="•"/>
            </a:pPr>
            <a:r>
              <a:rPr lang="en-US" sz="1600" dirty="0">
                <a:solidFill>
                  <a:schemeClr val="bg1"/>
                </a:solidFill>
              </a:rPr>
              <a:t>Captured image</a:t>
            </a:r>
          </a:p>
          <a:p>
            <a:pPr>
              <a:buNone/>
            </a:pPr>
            <a:endParaRPr lang="en-US" sz="1600" dirty="0">
              <a:solidFill>
                <a:schemeClr val="bg1"/>
              </a:solidFill>
            </a:endParaRPr>
          </a:p>
          <a:p>
            <a:pPr>
              <a:buNone/>
            </a:pPr>
            <a:r>
              <a:rPr lang="en-US" sz="1600" b="1" dirty="0">
                <a:solidFill>
                  <a:schemeClr val="bg1"/>
                </a:solidFill>
              </a:rPr>
              <a:t>Step 8: Continuous Monitoring</a:t>
            </a:r>
          </a:p>
          <a:p>
            <a:pPr>
              <a:buFont typeface="Arial" panose="020B0604020202020204" pitchFamily="34" charset="0"/>
              <a:buChar char="•"/>
            </a:pPr>
            <a:r>
              <a:rPr lang="en-US" sz="1600" dirty="0">
                <a:solidFill>
                  <a:schemeClr val="bg1"/>
                </a:solidFill>
              </a:rPr>
              <a:t>System continues monitoring in real-time</a:t>
            </a:r>
          </a:p>
          <a:p>
            <a:pPr>
              <a:buFont typeface="Arial" panose="020B0604020202020204" pitchFamily="34" charset="0"/>
              <a:buChar char="•"/>
            </a:pPr>
            <a:r>
              <a:rPr lang="en-US" sz="1600" dirty="0">
                <a:solidFill>
                  <a:schemeClr val="bg1"/>
                </a:solidFill>
              </a:rPr>
              <a:t>Cooldown mechanism prevents repeated alerts</a:t>
            </a:r>
          </a:p>
        </p:txBody>
      </p:sp>
    </p:spTree>
    <p:extLst>
      <p:ext uri="{BB962C8B-B14F-4D97-AF65-F5344CB8AC3E}">
        <p14:creationId xmlns:p14="http://schemas.microsoft.com/office/powerpoint/2010/main" val="533718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955D6-8143-5F2B-C5B4-ECF5DE3ACC5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15F7298-5DBD-E51D-BCDC-8153FBF3485B}"/>
              </a:ext>
            </a:extLst>
          </p:cNvPr>
          <p:cNvSpPr>
            <a:spLocks noGrp="1"/>
          </p:cNvSpPr>
          <p:nvPr>
            <p:ph type="title"/>
          </p:nvPr>
        </p:nvSpPr>
        <p:spPr>
          <a:xfrm>
            <a:off x="444500" y="542925"/>
            <a:ext cx="11214100" cy="535531"/>
          </a:xfrm>
        </p:spPr>
        <p:txBody>
          <a:bodyPr/>
          <a:lstStyle/>
          <a:p>
            <a:r>
              <a:rPr lang="en-GB" dirty="0"/>
              <a:t>Data Flow</a:t>
            </a:r>
            <a:endParaRPr lang="en-US" dirty="0"/>
          </a:p>
        </p:txBody>
      </p:sp>
      <p:sp>
        <p:nvSpPr>
          <p:cNvPr id="2" name="Slide Number Placeholder 1">
            <a:extLst>
              <a:ext uri="{FF2B5EF4-FFF2-40B4-BE49-F238E27FC236}">
                <a16:creationId xmlns:a16="http://schemas.microsoft.com/office/drawing/2014/main" id="{FCC4E551-A98D-EE89-A5D3-7340EF68D46B}"/>
              </a:ext>
            </a:extLst>
          </p:cNvPr>
          <p:cNvSpPr>
            <a:spLocks noGrp="1"/>
          </p:cNvSpPr>
          <p:nvPr>
            <p:ph type="sldNum" sz="quarter" idx="12"/>
          </p:nvPr>
        </p:nvSpPr>
        <p:spPr/>
        <p:txBody>
          <a:bodyPr/>
          <a:lstStyle/>
          <a:p>
            <a:fld id="{C263D6C4-4840-40CC-AC84-17E24B3B7BDE}" type="slidenum">
              <a:rPr lang="en-US" smtClean="0"/>
              <a:pPr/>
              <a:t>12</a:t>
            </a:fld>
            <a:endParaRPr lang="en-US" dirty="0"/>
          </a:p>
        </p:txBody>
      </p:sp>
      <p:pic>
        <p:nvPicPr>
          <p:cNvPr id="3" name="Picture 2">
            <a:extLst>
              <a:ext uri="{FF2B5EF4-FFF2-40B4-BE49-F238E27FC236}">
                <a16:creationId xmlns:a16="http://schemas.microsoft.com/office/drawing/2014/main" id="{ACDEDCC5-CD1C-A55A-91A0-4D27DA689B58}"/>
              </a:ext>
            </a:extLst>
          </p:cNvPr>
          <p:cNvPicPr>
            <a:picLocks noChangeAspect="1"/>
          </p:cNvPicPr>
          <p:nvPr/>
        </p:nvPicPr>
        <p:blipFill>
          <a:blip r:embed="rId2"/>
          <a:srcRect l="728" r="8565"/>
          <a:stretch>
            <a:fillRect/>
          </a:stretch>
        </p:blipFill>
        <p:spPr>
          <a:xfrm>
            <a:off x="2337408" y="1352388"/>
            <a:ext cx="7031990" cy="5229225"/>
          </a:xfrm>
          <a:prstGeom prst="rect">
            <a:avLst/>
          </a:prstGeom>
        </p:spPr>
      </p:pic>
    </p:spTree>
    <p:extLst>
      <p:ext uri="{BB962C8B-B14F-4D97-AF65-F5344CB8AC3E}">
        <p14:creationId xmlns:p14="http://schemas.microsoft.com/office/powerpoint/2010/main" val="1039841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58457-3A40-1354-5C7E-33E271E36E6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0161FFE-8E98-25BE-CD8F-DE644468FFA5}"/>
              </a:ext>
            </a:extLst>
          </p:cNvPr>
          <p:cNvSpPr>
            <a:spLocks noGrp="1"/>
          </p:cNvSpPr>
          <p:nvPr>
            <p:ph type="title"/>
          </p:nvPr>
        </p:nvSpPr>
        <p:spPr>
          <a:xfrm>
            <a:off x="444500" y="542925"/>
            <a:ext cx="11214100" cy="535531"/>
          </a:xfrm>
        </p:spPr>
        <p:txBody>
          <a:bodyPr/>
          <a:lstStyle/>
          <a:p>
            <a:r>
              <a:rPr lang="en-GB" dirty="0">
                <a:latin typeface="Arial"/>
                <a:ea typeface="Arial"/>
                <a:cs typeface="Arial"/>
                <a:sym typeface="Arial"/>
              </a:rPr>
              <a:t>Hardware Components</a:t>
            </a:r>
            <a:endParaRPr lang="en-US" dirty="0"/>
          </a:p>
        </p:txBody>
      </p:sp>
      <p:sp>
        <p:nvSpPr>
          <p:cNvPr id="2" name="Slide Number Placeholder 1">
            <a:extLst>
              <a:ext uri="{FF2B5EF4-FFF2-40B4-BE49-F238E27FC236}">
                <a16:creationId xmlns:a16="http://schemas.microsoft.com/office/drawing/2014/main" id="{A9F2BC7D-B2C2-D4D3-4003-272E54C955CE}"/>
              </a:ext>
            </a:extLst>
          </p:cNvPr>
          <p:cNvSpPr>
            <a:spLocks noGrp="1"/>
          </p:cNvSpPr>
          <p:nvPr>
            <p:ph type="sldNum" sz="quarter" idx="12"/>
          </p:nvPr>
        </p:nvSpPr>
        <p:spPr/>
        <p:txBody>
          <a:bodyPr/>
          <a:lstStyle/>
          <a:p>
            <a:fld id="{C263D6C4-4840-40CC-AC84-17E24B3B7BDE}" type="slidenum">
              <a:rPr lang="en-US" smtClean="0"/>
              <a:pPr/>
              <a:t>13</a:t>
            </a:fld>
            <a:endParaRPr lang="en-US" dirty="0"/>
          </a:p>
        </p:txBody>
      </p:sp>
      <p:sp>
        <p:nvSpPr>
          <p:cNvPr id="8" name="TextBox 7">
            <a:extLst>
              <a:ext uri="{FF2B5EF4-FFF2-40B4-BE49-F238E27FC236}">
                <a16:creationId xmlns:a16="http://schemas.microsoft.com/office/drawing/2014/main" id="{66E08580-F691-4D49-184A-B1BF56452A6B}"/>
              </a:ext>
            </a:extLst>
          </p:cNvPr>
          <p:cNvSpPr txBox="1"/>
          <p:nvPr/>
        </p:nvSpPr>
        <p:spPr>
          <a:xfrm>
            <a:off x="541867" y="1504119"/>
            <a:ext cx="9776177" cy="3600986"/>
          </a:xfrm>
          <a:prstGeom prst="rect">
            <a:avLst/>
          </a:prstGeom>
          <a:noFill/>
        </p:spPr>
        <p:txBody>
          <a:bodyPr wrap="square">
            <a:spAutoFit/>
          </a:bodyPr>
          <a:lstStyle/>
          <a:p>
            <a:pPr marL="0" lvl="0" indent="0" algn="l" rtl="0">
              <a:spcBef>
                <a:spcPts val="1400"/>
              </a:spcBef>
              <a:spcAft>
                <a:spcPts val="0"/>
              </a:spcAft>
              <a:buNone/>
            </a:pPr>
            <a:endParaRPr lang="en-GB" sz="2000" b="1" dirty="0">
              <a:solidFill>
                <a:schemeClr val="bg1"/>
              </a:solidFill>
              <a:latin typeface="Arial"/>
              <a:ea typeface="Arial"/>
              <a:cs typeface="Arial"/>
              <a:sym typeface="Arial"/>
            </a:endParaRPr>
          </a:p>
          <a:p>
            <a:pPr marL="457200" lvl="0" indent="-317500" algn="l" rtl="0">
              <a:spcBef>
                <a:spcPts val="1200"/>
              </a:spcBef>
              <a:spcAft>
                <a:spcPts val="0"/>
              </a:spcAft>
              <a:buClr>
                <a:srgbClr val="000000"/>
              </a:buClr>
              <a:buSzPts val="1400"/>
              <a:buFont typeface="Arial"/>
              <a:buChar char="●"/>
            </a:pPr>
            <a:r>
              <a:rPr lang="en-GB" sz="1800" b="1" dirty="0">
                <a:solidFill>
                  <a:schemeClr val="bg1"/>
                </a:solidFill>
                <a:latin typeface="Arial"/>
                <a:ea typeface="Arial"/>
                <a:cs typeface="Arial"/>
                <a:sym typeface="Arial"/>
              </a:rPr>
              <a:t>Camera </a:t>
            </a:r>
            <a:r>
              <a:rPr lang="en-GB" sz="1800" dirty="0">
                <a:solidFill>
                  <a:schemeClr val="bg1"/>
                </a:solidFill>
                <a:latin typeface="Arial"/>
                <a:ea typeface="Arial"/>
                <a:cs typeface="Arial"/>
                <a:sym typeface="Arial"/>
              </a:rPr>
              <a:t> – Captures real-time video for monitoring</a:t>
            </a:r>
            <a:br>
              <a:rPr lang="en-GB" sz="1800" dirty="0">
                <a:solidFill>
                  <a:schemeClr val="bg1"/>
                </a:solidFill>
                <a:latin typeface="Arial"/>
                <a:ea typeface="Arial"/>
                <a:cs typeface="Arial"/>
                <a:sym typeface="Arial"/>
              </a:rPr>
            </a:br>
            <a:endParaRPr lang="en-GB" sz="1800" dirty="0">
              <a:solidFill>
                <a:schemeClr val="bg1"/>
              </a:solidFill>
              <a:latin typeface="Arial"/>
              <a:ea typeface="Arial"/>
              <a:cs typeface="Arial"/>
              <a:sym typeface="Arial"/>
            </a:endParaRPr>
          </a:p>
          <a:p>
            <a:pPr marL="457200" lvl="0" indent="-317500" algn="l" rtl="0">
              <a:spcBef>
                <a:spcPts val="0"/>
              </a:spcBef>
              <a:spcAft>
                <a:spcPts val="0"/>
              </a:spcAft>
              <a:buClr>
                <a:srgbClr val="000000"/>
              </a:buClr>
              <a:buSzPts val="1400"/>
              <a:buFont typeface="Arial"/>
              <a:buChar char="●"/>
            </a:pPr>
            <a:r>
              <a:rPr lang="en-GB" sz="1800" b="1" dirty="0">
                <a:solidFill>
                  <a:schemeClr val="bg1"/>
                </a:solidFill>
                <a:latin typeface="Arial"/>
                <a:ea typeface="Arial"/>
                <a:cs typeface="Arial"/>
                <a:sym typeface="Arial"/>
              </a:rPr>
              <a:t>ESP32</a:t>
            </a:r>
            <a:r>
              <a:rPr lang="en-GB" sz="1800" dirty="0">
                <a:solidFill>
                  <a:schemeClr val="bg1"/>
                </a:solidFill>
                <a:latin typeface="Arial"/>
                <a:ea typeface="Arial"/>
                <a:cs typeface="Arial"/>
                <a:sym typeface="Arial"/>
              </a:rPr>
              <a:t> – Handles IoT communication and alert triggering</a:t>
            </a:r>
            <a:br>
              <a:rPr lang="en-GB" sz="1800" dirty="0">
                <a:solidFill>
                  <a:schemeClr val="bg1"/>
                </a:solidFill>
                <a:latin typeface="Arial"/>
                <a:ea typeface="Arial"/>
                <a:cs typeface="Arial"/>
                <a:sym typeface="Arial"/>
              </a:rPr>
            </a:br>
            <a:endParaRPr lang="en-GB" sz="1800" dirty="0">
              <a:solidFill>
                <a:schemeClr val="bg1"/>
              </a:solidFill>
              <a:latin typeface="Arial"/>
              <a:ea typeface="Arial"/>
              <a:cs typeface="Arial"/>
              <a:sym typeface="Arial"/>
            </a:endParaRPr>
          </a:p>
          <a:p>
            <a:pPr marL="457200" indent="-317500">
              <a:buClr>
                <a:srgbClr val="000000"/>
              </a:buClr>
              <a:buSzPts val="1400"/>
              <a:buFont typeface="Arial"/>
              <a:buChar char="●"/>
            </a:pPr>
            <a:r>
              <a:rPr lang="en-GB" b="1" dirty="0">
                <a:solidFill>
                  <a:schemeClr val="bg1"/>
                </a:solidFill>
                <a:latin typeface="Arial"/>
                <a:ea typeface="Arial"/>
                <a:cs typeface="Arial"/>
                <a:sym typeface="Arial"/>
              </a:rPr>
              <a:t>Buzzer </a:t>
            </a:r>
            <a:r>
              <a:rPr lang="en-GB" sz="1800" dirty="0">
                <a:solidFill>
                  <a:schemeClr val="bg1"/>
                </a:solidFill>
                <a:latin typeface="Arial"/>
                <a:ea typeface="Arial"/>
                <a:cs typeface="Arial"/>
                <a:sym typeface="Arial"/>
              </a:rPr>
              <a:t>– </a:t>
            </a:r>
            <a:r>
              <a:rPr lang="en-US" altLang="en-US" dirty="0">
                <a:solidFill>
                  <a:schemeClr val="bg1"/>
                </a:solidFill>
                <a:ea typeface="Arial" panose="020B0604020202020204"/>
                <a:cs typeface="Arial" panose="020B0604020202020204"/>
                <a:sym typeface="Arial" panose="020B0604020202020204"/>
              </a:rPr>
              <a:t>Generates an audible alert during fall detection</a:t>
            </a:r>
            <a:br>
              <a:rPr lang="en-GB" sz="1800" dirty="0">
                <a:solidFill>
                  <a:schemeClr val="bg1"/>
                </a:solidFill>
                <a:latin typeface="Arial"/>
                <a:ea typeface="Arial"/>
                <a:cs typeface="Arial"/>
                <a:sym typeface="Arial"/>
              </a:rPr>
            </a:br>
            <a:endParaRPr lang="en-GB" sz="1800" dirty="0">
              <a:solidFill>
                <a:schemeClr val="bg1"/>
              </a:solidFill>
              <a:latin typeface="Arial"/>
              <a:ea typeface="Arial"/>
              <a:cs typeface="Arial"/>
              <a:sym typeface="Arial"/>
            </a:endParaRPr>
          </a:p>
          <a:p>
            <a:pPr marL="457200" lvl="0" indent="-317500" algn="l" rtl="0">
              <a:spcBef>
                <a:spcPts val="0"/>
              </a:spcBef>
              <a:spcAft>
                <a:spcPts val="0"/>
              </a:spcAft>
              <a:buClr>
                <a:srgbClr val="000000"/>
              </a:buClr>
              <a:buSzPts val="1400"/>
              <a:buFont typeface="Arial"/>
              <a:buChar char="●"/>
            </a:pPr>
            <a:r>
              <a:rPr lang="en-GB" sz="1800" b="1" dirty="0">
                <a:solidFill>
                  <a:schemeClr val="bg1"/>
                </a:solidFill>
                <a:latin typeface="Arial"/>
                <a:ea typeface="Arial"/>
                <a:cs typeface="Arial"/>
                <a:sym typeface="Arial"/>
              </a:rPr>
              <a:t>Power Supply</a:t>
            </a:r>
            <a:r>
              <a:rPr lang="en-GB" sz="1800" dirty="0">
                <a:solidFill>
                  <a:schemeClr val="bg1"/>
                </a:solidFill>
                <a:latin typeface="Arial"/>
                <a:ea typeface="Arial"/>
                <a:cs typeface="Arial"/>
                <a:sym typeface="Arial"/>
              </a:rPr>
              <a:t> – Supplies power to the system</a:t>
            </a:r>
            <a:br>
              <a:rPr lang="en-GB" sz="1800" dirty="0">
                <a:solidFill>
                  <a:schemeClr val="bg1"/>
                </a:solidFill>
                <a:latin typeface="Arial"/>
                <a:ea typeface="Arial"/>
                <a:cs typeface="Arial"/>
                <a:sym typeface="Arial"/>
              </a:rPr>
            </a:br>
            <a:endParaRPr lang="en-GB" sz="1800" dirty="0">
              <a:solidFill>
                <a:schemeClr val="bg1"/>
              </a:solidFill>
              <a:latin typeface="Arial"/>
              <a:ea typeface="Arial"/>
              <a:cs typeface="Arial"/>
              <a:sym typeface="Arial"/>
            </a:endParaRPr>
          </a:p>
          <a:p>
            <a:pPr marL="457200" lvl="0" indent="-317500" algn="l" rtl="0">
              <a:spcBef>
                <a:spcPts val="0"/>
              </a:spcBef>
              <a:spcAft>
                <a:spcPts val="0"/>
              </a:spcAft>
              <a:buClr>
                <a:srgbClr val="000000"/>
              </a:buClr>
              <a:buSzPts val="1400"/>
              <a:buFont typeface="Arial"/>
              <a:buChar char="●"/>
            </a:pPr>
            <a:r>
              <a:rPr lang="en-GB" sz="1800" b="1" dirty="0">
                <a:solidFill>
                  <a:schemeClr val="bg1"/>
                </a:solidFill>
                <a:latin typeface="Arial"/>
                <a:ea typeface="Arial"/>
                <a:cs typeface="Arial"/>
                <a:sym typeface="Arial"/>
              </a:rPr>
              <a:t>Wi-Fi Module (built-in ESP32)</a:t>
            </a:r>
            <a:r>
              <a:rPr lang="en-GB" sz="1800" dirty="0">
                <a:solidFill>
                  <a:schemeClr val="bg1"/>
                </a:solidFill>
                <a:latin typeface="Arial"/>
                <a:ea typeface="Arial"/>
                <a:cs typeface="Arial"/>
                <a:sym typeface="Arial"/>
              </a:rPr>
              <a:t> – Enables internet connectivity</a:t>
            </a:r>
          </a:p>
          <a:p>
            <a:pPr marL="457200" lvl="0" indent="-317500" algn="l" rtl="0">
              <a:spcBef>
                <a:spcPts val="0"/>
              </a:spcBef>
              <a:spcAft>
                <a:spcPts val="0"/>
              </a:spcAft>
              <a:buClr>
                <a:srgbClr val="000000"/>
              </a:buClr>
              <a:buSzPts val="1400"/>
              <a:buFont typeface="Arial"/>
              <a:buChar char="●"/>
            </a:pPr>
            <a:endParaRPr lang="en-GB" dirty="0">
              <a:solidFill>
                <a:schemeClr val="bg1"/>
              </a:solidFill>
              <a:latin typeface="Arial"/>
              <a:ea typeface="Arial"/>
              <a:cs typeface="Arial"/>
              <a:sym typeface="Arial"/>
            </a:endParaRPr>
          </a:p>
          <a:p>
            <a:pPr marL="457200" lvl="0" indent="-317500" algn="l" rtl="0">
              <a:spcBef>
                <a:spcPts val="0"/>
              </a:spcBef>
              <a:spcAft>
                <a:spcPts val="0"/>
              </a:spcAft>
              <a:buClr>
                <a:srgbClr val="000000"/>
              </a:buClr>
              <a:buSzPts val="1400"/>
              <a:buFont typeface="Arial"/>
              <a:buChar char="●"/>
            </a:pPr>
            <a:r>
              <a:rPr lang="en-GB" sz="1800" b="1" dirty="0">
                <a:solidFill>
                  <a:schemeClr val="bg1"/>
                </a:solidFill>
                <a:latin typeface="Arial"/>
                <a:ea typeface="Arial"/>
                <a:cs typeface="Arial"/>
                <a:sym typeface="Arial"/>
              </a:rPr>
              <a:t>FTDI</a:t>
            </a:r>
            <a:r>
              <a:rPr lang="en-GB" sz="1800" dirty="0">
                <a:solidFill>
                  <a:schemeClr val="bg1"/>
                </a:solidFill>
                <a:latin typeface="Arial"/>
                <a:ea typeface="Arial"/>
                <a:cs typeface="Arial"/>
                <a:sym typeface="Arial"/>
              </a:rPr>
              <a:t> – for programming the esp32 cam</a:t>
            </a:r>
          </a:p>
        </p:txBody>
      </p:sp>
    </p:spTree>
    <p:extLst>
      <p:ext uri="{BB962C8B-B14F-4D97-AF65-F5344CB8AC3E}">
        <p14:creationId xmlns:p14="http://schemas.microsoft.com/office/powerpoint/2010/main" val="3935865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CD1F0-9FAD-E5E6-AA78-386A96E0773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E133CCD-ADE5-4C3F-33A7-491E7DE6981D}"/>
              </a:ext>
            </a:extLst>
          </p:cNvPr>
          <p:cNvSpPr>
            <a:spLocks noGrp="1"/>
          </p:cNvSpPr>
          <p:nvPr>
            <p:ph type="title"/>
          </p:nvPr>
        </p:nvSpPr>
        <p:spPr>
          <a:xfrm>
            <a:off x="444500" y="542925"/>
            <a:ext cx="11214100" cy="535531"/>
          </a:xfrm>
        </p:spPr>
        <p:txBody>
          <a:bodyPr/>
          <a:lstStyle/>
          <a:p>
            <a:pPr lvl="0">
              <a:spcBef>
                <a:spcPts val="1400"/>
              </a:spcBef>
            </a:pPr>
            <a:r>
              <a:rPr lang="en-GB" dirty="0">
                <a:ea typeface="Arial"/>
                <a:cs typeface="Arial"/>
                <a:sym typeface="Arial"/>
              </a:rPr>
              <a:t>Software Components</a:t>
            </a:r>
          </a:p>
        </p:txBody>
      </p:sp>
      <p:sp>
        <p:nvSpPr>
          <p:cNvPr id="2" name="Slide Number Placeholder 1">
            <a:extLst>
              <a:ext uri="{FF2B5EF4-FFF2-40B4-BE49-F238E27FC236}">
                <a16:creationId xmlns:a16="http://schemas.microsoft.com/office/drawing/2014/main" id="{330FF802-D319-B4E9-8E82-FD96A163A881}"/>
              </a:ext>
            </a:extLst>
          </p:cNvPr>
          <p:cNvSpPr>
            <a:spLocks noGrp="1"/>
          </p:cNvSpPr>
          <p:nvPr>
            <p:ph type="sldNum" sz="quarter" idx="12"/>
          </p:nvPr>
        </p:nvSpPr>
        <p:spPr/>
        <p:txBody>
          <a:bodyPr/>
          <a:lstStyle/>
          <a:p>
            <a:fld id="{C263D6C4-4840-40CC-AC84-17E24B3B7BDE}" type="slidenum">
              <a:rPr lang="en-US" smtClean="0"/>
              <a:pPr/>
              <a:t>14</a:t>
            </a:fld>
            <a:endParaRPr lang="en-US" dirty="0"/>
          </a:p>
        </p:txBody>
      </p:sp>
      <p:sp>
        <p:nvSpPr>
          <p:cNvPr id="8" name="TextBox 7">
            <a:extLst>
              <a:ext uri="{FF2B5EF4-FFF2-40B4-BE49-F238E27FC236}">
                <a16:creationId xmlns:a16="http://schemas.microsoft.com/office/drawing/2014/main" id="{F8ED0E69-499A-7830-1767-AE66EE7B9415}"/>
              </a:ext>
            </a:extLst>
          </p:cNvPr>
          <p:cNvSpPr txBox="1"/>
          <p:nvPr/>
        </p:nvSpPr>
        <p:spPr>
          <a:xfrm>
            <a:off x="541867" y="1504119"/>
            <a:ext cx="9776177" cy="2862322"/>
          </a:xfrm>
          <a:prstGeom prst="rect">
            <a:avLst/>
          </a:prstGeom>
          <a:noFill/>
        </p:spPr>
        <p:txBody>
          <a:bodyPr wrap="square">
            <a:spAutoFit/>
          </a:bodyPr>
          <a:lstStyle/>
          <a:p>
            <a:pPr marL="457200" lvl="0" indent="-317500">
              <a:spcBef>
                <a:spcPts val="1200"/>
              </a:spcBef>
              <a:buClr>
                <a:srgbClr val="000000"/>
              </a:buClr>
              <a:buSzPts val="1400"/>
              <a:buFont typeface="Arial"/>
              <a:buChar char="●"/>
            </a:pPr>
            <a:r>
              <a:rPr lang="en-GB" sz="2000" b="1" dirty="0">
                <a:solidFill>
                  <a:schemeClr val="bg1"/>
                </a:solidFill>
                <a:ea typeface="Arial"/>
                <a:cs typeface="Arial"/>
                <a:sym typeface="Arial"/>
              </a:rPr>
              <a:t>Python</a:t>
            </a:r>
            <a:r>
              <a:rPr lang="en-GB" sz="2000" dirty="0">
                <a:solidFill>
                  <a:schemeClr val="bg1"/>
                </a:solidFill>
                <a:ea typeface="Arial"/>
                <a:cs typeface="Arial"/>
                <a:sym typeface="Arial"/>
              </a:rPr>
              <a:t> – Used for system development</a:t>
            </a:r>
            <a:br>
              <a:rPr lang="en-GB" sz="2000" dirty="0">
                <a:solidFill>
                  <a:schemeClr val="bg1"/>
                </a:solidFill>
                <a:ea typeface="Arial"/>
                <a:cs typeface="Arial"/>
                <a:sym typeface="Arial"/>
              </a:rPr>
            </a:br>
            <a:endParaRPr lang="en-GB" sz="2000" dirty="0">
              <a:solidFill>
                <a:schemeClr val="bg1"/>
              </a:solidFill>
              <a:ea typeface="Arial"/>
              <a:cs typeface="Arial"/>
              <a:sym typeface="Arial"/>
            </a:endParaRPr>
          </a:p>
          <a:p>
            <a:pPr marL="457200" lvl="0" indent="-317500">
              <a:buClr>
                <a:srgbClr val="000000"/>
              </a:buClr>
              <a:buSzPts val="1400"/>
              <a:buFont typeface="Arial"/>
              <a:buChar char="●"/>
            </a:pPr>
            <a:r>
              <a:rPr lang="en-GB" sz="2000" b="1" dirty="0">
                <a:solidFill>
                  <a:schemeClr val="bg1"/>
                </a:solidFill>
                <a:ea typeface="Arial"/>
                <a:cs typeface="Arial"/>
                <a:sym typeface="Arial"/>
              </a:rPr>
              <a:t>OpenCV</a:t>
            </a:r>
            <a:r>
              <a:rPr lang="en-GB" sz="2000" dirty="0">
                <a:solidFill>
                  <a:schemeClr val="bg1"/>
                </a:solidFill>
                <a:ea typeface="Arial"/>
                <a:cs typeface="Arial"/>
                <a:sym typeface="Arial"/>
              </a:rPr>
              <a:t> – Handles image and video processing</a:t>
            </a:r>
            <a:br>
              <a:rPr lang="en-GB" sz="2000" dirty="0">
                <a:solidFill>
                  <a:schemeClr val="bg1"/>
                </a:solidFill>
                <a:ea typeface="Arial"/>
                <a:cs typeface="Arial"/>
                <a:sym typeface="Arial"/>
              </a:rPr>
            </a:br>
            <a:endParaRPr lang="en-GB" sz="2000" dirty="0">
              <a:solidFill>
                <a:schemeClr val="bg1"/>
              </a:solidFill>
              <a:ea typeface="Arial"/>
              <a:cs typeface="Arial"/>
              <a:sym typeface="Arial"/>
            </a:endParaRPr>
          </a:p>
          <a:p>
            <a:pPr marL="457200" lvl="0" indent="-317500">
              <a:buClr>
                <a:srgbClr val="000000"/>
              </a:buClr>
              <a:buSzPts val="1400"/>
              <a:buFont typeface="Arial"/>
              <a:buChar char="●"/>
            </a:pPr>
            <a:r>
              <a:rPr lang="en-GB" sz="2000" b="1" dirty="0" err="1">
                <a:solidFill>
                  <a:schemeClr val="bg1"/>
                </a:solidFill>
                <a:ea typeface="Arial"/>
                <a:cs typeface="Arial"/>
                <a:sym typeface="Arial"/>
              </a:rPr>
              <a:t>Ultralytics</a:t>
            </a:r>
            <a:r>
              <a:rPr lang="en-GB" sz="2000" b="1" dirty="0">
                <a:solidFill>
                  <a:schemeClr val="bg1"/>
                </a:solidFill>
                <a:ea typeface="Arial"/>
                <a:cs typeface="Arial"/>
                <a:sym typeface="Arial"/>
              </a:rPr>
              <a:t> YOLO</a:t>
            </a:r>
            <a:r>
              <a:rPr lang="en-GB" sz="2000" dirty="0">
                <a:solidFill>
                  <a:schemeClr val="bg1"/>
                </a:solidFill>
                <a:ea typeface="Arial"/>
                <a:cs typeface="Arial"/>
                <a:sym typeface="Arial"/>
              </a:rPr>
              <a:t> – Detects human posture and fall events</a:t>
            </a:r>
            <a:br>
              <a:rPr lang="en-GB" sz="2000" dirty="0">
                <a:solidFill>
                  <a:schemeClr val="bg1"/>
                </a:solidFill>
                <a:ea typeface="Arial"/>
                <a:cs typeface="Arial"/>
                <a:sym typeface="Arial"/>
              </a:rPr>
            </a:br>
            <a:endParaRPr lang="en-GB" sz="2000" dirty="0">
              <a:solidFill>
                <a:schemeClr val="bg1"/>
              </a:solidFill>
              <a:ea typeface="Arial"/>
              <a:cs typeface="Arial"/>
              <a:sym typeface="Arial"/>
            </a:endParaRPr>
          </a:p>
          <a:p>
            <a:pPr marL="457200" lvl="0" indent="-317500">
              <a:buClr>
                <a:srgbClr val="000000"/>
              </a:buClr>
              <a:buSzPts val="1400"/>
              <a:buFont typeface="Arial"/>
              <a:buChar char="●"/>
            </a:pPr>
            <a:r>
              <a:rPr lang="en-GB" sz="2000" b="1" dirty="0">
                <a:solidFill>
                  <a:schemeClr val="bg1"/>
                </a:solidFill>
                <a:ea typeface="Arial"/>
                <a:cs typeface="Arial"/>
                <a:sym typeface="Arial"/>
              </a:rPr>
              <a:t>VS Code</a:t>
            </a:r>
            <a:r>
              <a:rPr lang="en-GB" sz="2000" dirty="0">
                <a:solidFill>
                  <a:schemeClr val="bg1"/>
                </a:solidFill>
                <a:ea typeface="Arial"/>
                <a:cs typeface="Arial"/>
                <a:sym typeface="Arial"/>
              </a:rPr>
              <a:t> – Development environment</a:t>
            </a:r>
            <a:br>
              <a:rPr lang="en-GB" sz="2000" dirty="0">
                <a:solidFill>
                  <a:schemeClr val="bg1"/>
                </a:solidFill>
                <a:ea typeface="Arial"/>
                <a:cs typeface="Arial"/>
                <a:sym typeface="Arial"/>
              </a:rPr>
            </a:br>
            <a:endParaRPr lang="en-GB" sz="2000" dirty="0">
              <a:solidFill>
                <a:schemeClr val="bg1"/>
              </a:solidFill>
              <a:ea typeface="Arial"/>
              <a:cs typeface="Arial"/>
              <a:sym typeface="Arial"/>
            </a:endParaRPr>
          </a:p>
          <a:p>
            <a:pPr marL="457200" lvl="0" indent="-317500">
              <a:buClr>
                <a:srgbClr val="000000"/>
              </a:buClr>
              <a:buSzPts val="1400"/>
              <a:buFont typeface="Arial"/>
              <a:buChar char="●"/>
            </a:pPr>
            <a:r>
              <a:rPr lang="en-GB" sz="2000" b="1" dirty="0">
                <a:solidFill>
                  <a:schemeClr val="bg1"/>
                </a:solidFill>
                <a:ea typeface="Arial"/>
                <a:cs typeface="Arial"/>
                <a:sym typeface="Arial"/>
              </a:rPr>
              <a:t>Dataset (</a:t>
            </a:r>
            <a:r>
              <a:rPr lang="en-GB" sz="2000" b="1" dirty="0" err="1">
                <a:solidFill>
                  <a:schemeClr val="bg1"/>
                </a:solidFill>
                <a:ea typeface="Arial"/>
                <a:cs typeface="Arial"/>
                <a:sym typeface="Arial"/>
              </a:rPr>
              <a:t>Roboflow</a:t>
            </a:r>
            <a:r>
              <a:rPr lang="en-GB" sz="2000" b="1" dirty="0">
                <a:solidFill>
                  <a:schemeClr val="bg1"/>
                </a:solidFill>
                <a:ea typeface="Arial"/>
                <a:cs typeface="Arial"/>
                <a:sym typeface="Arial"/>
              </a:rPr>
              <a:t> / Open Images)</a:t>
            </a:r>
            <a:r>
              <a:rPr lang="en-GB" sz="2000" dirty="0">
                <a:solidFill>
                  <a:schemeClr val="bg1"/>
                </a:solidFill>
                <a:ea typeface="Arial"/>
                <a:cs typeface="Arial"/>
                <a:sym typeface="Arial"/>
              </a:rPr>
              <a:t> – Used for training the model</a:t>
            </a:r>
            <a:endParaRPr lang="en-GB" sz="1800" dirty="0">
              <a:solidFill>
                <a:schemeClr val="bg1"/>
              </a:solidFill>
              <a:latin typeface="Arial"/>
              <a:ea typeface="Arial"/>
              <a:cs typeface="Arial"/>
              <a:sym typeface="Arial"/>
            </a:endParaRPr>
          </a:p>
        </p:txBody>
      </p:sp>
    </p:spTree>
    <p:extLst>
      <p:ext uri="{BB962C8B-B14F-4D97-AF65-F5344CB8AC3E}">
        <p14:creationId xmlns:p14="http://schemas.microsoft.com/office/powerpoint/2010/main" val="1574441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66AA7-E02A-CBDB-E52A-B296CEAD088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1A1AE37-B3CE-F81C-1F06-B2C828391E05}"/>
              </a:ext>
            </a:extLst>
          </p:cNvPr>
          <p:cNvSpPr>
            <a:spLocks noGrp="1"/>
          </p:cNvSpPr>
          <p:nvPr>
            <p:ph type="title"/>
          </p:nvPr>
        </p:nvSpPr>
        <p:spPr>
          <a:xfrm>
            <a:off x="444500" y="542925"/>
            <a:ext cx="11214100" cy="535531"/>
          </a:xfrm>
        </p:spPr>
        <p:txBody>
          <a:bodyPr/>
          <a:lstStyle/>
          <a:p>
            <a:r>
              <a:rPr lang="en-GB" dirty="0"/>
              <a:t>Circuit Diagram</a:t>
            </a:r>
            <a:endParaRPr lang="en-US" dirty="0"/>
          </a:p>
        </p:txBody>
      </p:sp>
      <p:sp>
        <p:nvSpPr>
          <p:cNvPr id="2" name="Slide Number Placeholder 1">
            <a:extLst>
              <a:ext uri="{FF2B5EF4-FFF2-40B4-BE49-F238E27FC236}">
                <a16:creationId xmlns:a16="http://schemas.microsoft.com/office/drawing/2014/main" id="{C5AD2B07-021E-041E-A0C5-323AFA7D7A33}"/>
              </a:ext>
            </a:extLst>
          </p:cNvPr>
          <p:cNvSpPr>
            <a:spLocks noGrp="1"/>
          </p:cNvSpPr>
          <p:nvPr>
            <p:ph type="sldNum" sz="quarter" idx="12"/>
          </p:nvPr>
        </p:nvSpPr>
        <p:spPr/>
        <p:txBody>
          <a:bodyPr/>
          <a:lstStyle/>
          <a:p>
            <a:fld id="{C263D6C4-4840-40CC-AC84-17E24B3B7BDE}" type="slidenum">
              <a:rPr lang="en-US" smtClean="0"/>
              <a:pPr/>
              <a:t>15</a:t>
            </a:fld>
            <a:endParaRPr lang="en-US" dirty="0"/>
          </a:p>
        </p:txBody>
      </p:sp>
      <p:pic>
        <p:nvPicPr>
          <p:cNvPr id="7" name="Picture 6">
            <a:extLst>
              <a:ext uri="{FF2B5EF4-FFF2-40B4-BE49-F238E27FC236}">
                <a16:creationId xmlns:a16="http://schemas.microsoft.com/office/drawing/2014/main" id="{D385C1DE-B5E6-0720-A8B7-D7B861D57153}"/>
              </a:ext>
            </a:extLst>
          </p:cNvPr>
          <p:cNvPicPr>
            <a:picLocks noChangeAspect="1"/>
          </p:cNvPicPr>
          <p:nvPr/>
        </p:nvPicPr>
        <p:blipFill>
          <a:blip r:embed="rId2"/>
          <a:stretch>
            <a:fillRect/>
          </a:stretch>
        </p:blipFill>
        <p:spPr>
          <a:xfrm>
            <a:off x="444500" y="1679510"/>
            <a:ext cx="6039263" cy="4357395"/>
          </a:xfrm>
          <a:prstGeom prst="rect">
            <a:avLst/>
          </a:prstGeom>
        </p:spPr>
      </p:pic>
      <p:pic>
        <p:nvPicPr>
          <p:cNvPr id="10" name="Picture 9">
            <a:extLst>
              <a:ext uri="{FF2B5EF4-FFF2-40B4-BE49-F238E27FC236}">
                <a16:creationId xmlns:a16="http://schemas.microsoft.com/office/drawing/2014/main" id="{CA52ABD2-B79F-1339-4F2E-E9171F14175A}"/>
              </a:ext>
            </a:extLst>
          </p:cNvPr>
          <p:cNvPicPr>
            <a:picLocks noChangeAspect="1"/>
          </p:cNvPicPr>
          <p:nvPr/>
        </p:nvPicPr>
        <p:blipFill>
          <a:blip r:embed="rId3"/>
          <a:stretch>
            <a:fillRect/>
          </a:stretch>
        </p:blipFill>
        <p:spPr>
          <a:xfrm>
            <a:off x="6820678" y="1679510"/>
            <a:ext cx="4572000" cy="4357394"/>
          </a:xfrm>
          <a:prstGeom prst="rect">
            <a:avLst/>
          </a:prstGeom>
        </p:spPr>
      </p:pic>
      <p:sp>
        <p:nvSpPr>
          <p:cNvPr id="3" name="TextBox 2">
            <a:extLst>
              <a:ext uri="{FF2B5EF4-FFF2-40B4-BE49-F238E27FC236}">
                <a16:creationId xmlns:a16="http://schemas.microsoft.com/office/drawing/2014/main" id="{B9F3F72E-50AC-A169-F077-6576020AF72A}"/>
              </a:ext>
            </a:extLst>
          </p:cNvPr>
          <p:cNvSpPr txBox="1"/>
          <p:nvPr/>
        </p:nvSpPr>
        <p:spPr>
          <a:xfrm>
            <a:off x="2390775" y="6410325"/>
            <a:ext cx="1492716" cy="369332"/>
          </a:xfrm>
          <a:prstGeom prst="rect">
            <a:avLst/>
          </a:prstGeom>
          <a:noFill/>
        </p:spPr>
        <p:txBody>
          <a:bodyPr wrap="none" rtlCol="0">
            <a:spAutoFit/>
          </a:bodyPr>
          <a:lstStyle/>
          <a:p>
            <a:r>
              <a:rPr lang="en-IN" dirty="0"/>
              <a:t>Cam module</a:t>
            </a:r>
          </a:p>
        </p:txBody>
      </p:sp>
      <p:sp>
        <p:nvSpPr>
          <p:cNvPr id="6" name="TextBox 5">
            <a:extLst>
              <a:ext uri="{FF2B5EF4-FFF2-40B4-BE49-F238E27FC236}">
                <a16:creationId xmlns:a16="http://schemas.microsoft.com/office/drawing/2014/main" id="{FC0245A3-8B2B-A059-7907-D20766E9FD1D}"/>
              </a:ext>
            </a:extLst>
          </p:cNvPr>
          <p:cNvSpPr txBox="1"/>
          <p:nvPr/>
        </p:nvSpPr>
        <p:spPr>
          <a:xfrm>
            <a:off x="7800975" y="6315075"/>
            <a:ext cx="6096000" cy="369332"/>
          </a:xfrm>
          <a:prstGeom prst="rect">
            <a:avLst/>
          </a:prstGeom>
          <a:noFill/>
        </p:spPr>
        <p:txBody>
          <a:bodyPr wrap="square">
            <a:spAutoFit/>
          </a:bodyPr>
          <a:lstStyle/>
          <a:p>
            <a:r>
              <a:rPr lang="en-IN" dirty="0"/>
              <a:t>Buzzer module</a:t>
            </a:r>
          </a:p>
        </p:txBody>
      </p:sp>
    </p:spTree>
    <p:extLst>
      <p:ext uri="{BB962C8B-B14F-4D97-AF65-F5344CB8AC3E}">
        <p14:creationId xmlns:p14="http://schemas.microsoft.com/office/powerpoint/2010/main" val="2626447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0B0EB-FC1B-AB61-1D6B-FDEF73744D7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A705F72-A2A4-1825-5F67-3583BBB30248}"/>
              </a:ext>
            </a:extLst>
          </p:cNvPr>
          <p:cNvSpPr>
            <a:spLocks noGrp="1"/>
          </p:cNvSpPr>
          <p:nvPr>
            <p:ph type="title"/>
          </p:nvPr>
        </p:nvSpPr>
        <p:spPr>
          <a:xfrm>
            <a:off x="444500" y="542925"/>
            <a:ext cx="11214100" cy="535531"/>
          </a:xfrm>
        </p:spPr>
        <p:txBody>
          <a:bodyPr/>
          <a:lstStyle/>
          <a:p>
            <a:r>
              <a:rPr lang="en-IN" dirty="0"/>
              <a:t>The YOLO11 Detection Pipeline</a:t>
            </a:r>
            <a:endParaRPr lang="en-US" dirty="0"/>
          </a:p>
        </p:txBody>
      </p:sp>
      <p:sp>
        <p:nvSpPr>
          <p:cNvPr id="2" name="Slide Number Placeholder 1">
            <a:extLst>
              <a:ext uri="{FF2B5EF4-FFF2-40B4-BE49-F238E27FC236}">
                <a16:creationId xmlns:a16="http://schemas.microsoft.com/office/drawing/2014/main" id="{5E54E929-5F4C-7087-74FC-996F30D35020}"/>
              </a:ext>
            </a:extLst>
          </p:cNvPr>
          <p:cNvSpPr>
            <a:spLocks noGrp="1"/>
          </p:cNvSpPr>
          <p:nvPr>
            <p:ph type="sldNum" sz="quarter" idx="12"/>
          </p:nvPr>
        </p:nvSpPr>
        <p:spPr/>
        <p:txBody>
          <a:bodyPr/>
          <a:lstStyle/>
          <a:p>
            <a:fld id="{C263D6C4-4840-40CC-AC84-17E24B3B7BDE}" type="slidenum">
              <a:rPr lang="en-US" smtClean="0"/>
              <a:pPr/>
              <a:t>16</a:t>
            </a:fld>
            <a:endParaRPr lang="en-US" dirty="0"/>
          </a:p>
        </p:txBody>
      </p:sp>
      <p:sp>
        <p:nvSpPr>
          <p:cNvPr id="7" name="TextBox 6">
            <a:extLst>
              <a:ext uri="{FF2B5EF4-FFF2-40B4-BE49-F238E27FC236}">
                <a16:creationId xmlns:a16="http://schemas.microsoft.com/office/drawing/2014/main" id="{607C2654-8AA4-FC11-51A8-4DB0FF8C92FE}"/>
              </a:ext>
            </a:extLst>
          </p:cNvPr>
          <p:cNvSpPr txBox="1"/>
          <p:nvPr/>
        </p:nvSpPr>
        <p:spPr>
          <a:xfrm>
            <a:off x="323850" y="1737090"/>
            <a:ext cx="11423391" cy="4716484"/>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1. Input &amp; Data Preprocessing</a:t>
            </a:r>
          </a:p>
          <a:p>
            <a:pPr lvl="1" eaLnBrk="0" fontAlgn="base" hangingPunct="0">
              <a:lnSpc>
                <a:spcPct val="150000"/>
              </a:lnSpc>
              <a:spcBef>
                <a:spcPct val="0"/>
              </a:spcBef>
              <a:spcAft>
                <a:spcPct val="0"/>
              </a:spcAft>
            </a:pPr>
            <a:r>
              <a:rPr kumimoji="0" lang="en-US" altLang="en-US" sz="1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The algorithm begins by preparing the raw frame from the ESP32-CAM for the neural network.</a:t>
            </a:r>
          </a:p>
          <a:p>
            <a:pPr lvl="1" eaLnBrk="0" fontAlgn="base" hangingPunct="0">
              <a:lnSpc>
                <a:spcPct val="150000"/>
              </a:lnSpc>
              <a:spcBef>
                <a:spcPct val="0"/>
              </a:spcBef>
              <a:spcAft>
                <a:spcPct val="0"/>
              </a:spcAft>
              <a:buFontTx/>
              <a:buChar char="•"/>
            </a:pPr>
            <a:r>
              <a:rPr kumimoji="0" lang="en-US" altLang="en-US" sz="14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Letterboxing:</a:t>
            </a:r>
            <a:r>
              <a:rPr kumimoji="0" lang="en-US" altLang="en-US" sz="1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Resizes the image to a fixed square while preserving the aspect ratio using padding.</a:t>
            </a:r>
          </a:p>
          <a:p>
            <a:pPr lvl="1" eaLnBrk="0" fontAlgn="base" hangingPunct="0">
              <a:lnSpc>
                <a:spcPct val="150000"/>
              </a:lnSpc>
              <a:spcBef>
                <a:spcPct val="0"/>
              </a:spcBef>
              <a:spcAft>
                <a:spcPct val="0"/>
              </a:spcAft>
              <a:buFontTx/>
              <a:buChar char="•"/>
            </a:pPr>
            <a:r>
              <a:rPr kumimoji="0" lang="en-US" altLang="en-US" sz="14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Normalization:</a:t>
            </a:r>
            <a:r>
              <a:rPr kumimoji="0" lang="en-US" altLang="en-US" sz="1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Converts pixel values from RGB (0–255) to a floating-point range (0.0–1.0) to stabilize the mathematical gradients.</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2. Feature Extraction (Backbone)</a:t>
            </a:r>
          </a:p>
          <a:p>
            <a:pPr lvl="1" eaLnBrk="0" fontAlgn="base" hangingPunct="0">
              <a:lnSpc>
                <a:spcPct val="150000"/>
              </a:lnSpc>
              <a:spcBef>
                <a:spcPct val="0"/>
              </a:spcBef>
              <a:spcAft>
                <a:spcPct val="0"/>
              </a:spcAft>
            </a:pPr>
            <a:r>
              <a:rPr kumimoji="0" lang="en-US" altLang="en-US" sz="1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This is the "brain" of the model that identifies patterns.</a:t>
            </a:r>
          </a:p>
          <a:p>
            <a:pPr lvl="1" eaLnBrk="0" fontAlgn="base" hangingPunct="0">
              <a:lnSpc>
                <a:spcPct val="150000"/>
              </a:lnSpc>
              <a:spcBef>
                <a:spcPct val="0"/>
              </a:spcBef>
              <a:spcAft>
                <a:spcPct val="0"/>
              </a:spcAft>
              <a:buFontTx/>
              <a:buChar char="•"/>
            </a:pPr>
            <a:r>
              <a:rPr kumimoji="0" lang="en-US" altLang="en-US" sz="14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C3k2 Blocks:</a:t>
            </a:r>
            <a:r>
              <a:rPr kumimoji="0" lang="en-US" altLang="en-US" sz="1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Uses "Cross-Stage Partial" bottlenecks with smaller kernels to extract deep features (edges, textures, human shapes) more efficiently than previous versions.</a:t>
            </a:r>
          </a:p>
          <a:p>
            <a:pPr lvl="1" eaLnBrk="0" fontAlgn="base" hangingPunct="0">
              <a:lnSpc>
                <a:spcPct val="150000"/>
              </a:lnSpc>
              <a:spcBef>
                <a:spcPct val="0"/>
              </a:spcBef>
              <a:spcAft>
                <a:spcPct val="0"/>
              </a:spcAft>
              <a:buFontTx/>
              <a:buChar char="•"/>
            </a:pPr>
            <a:r>
              <a:rPr kumimoji="0" lang="en-US" altLang="en-US" sz="14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C2PSA (Position-Sensitive Attention):</a:t>
            </a:r>
            <a:r>
              <a:rPr kumimoji="0" lang="en-US" altLang="en-US" sz="1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A new attention mechanism that helps the model distinguish the human subject from complex backgrounds like furniture or patterned rugs.</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3. Feature Fusion (Neck)</a:t>
            </a:r>
          </a:p>
          <a:p>
            <a:pPr lvl="1" eaLnBrk="0" fontAlgn="base" hangingPunct="0">
              <a:lnSpc>
                <a:spcPct val="150000"/>
              </a:lnSpc>
              <a:spcBef>
                <a:spcPct val="0"/>
              </a:spcBef>
              <a:spcAft>
                <a:spcPct val="0"/>
              </a:spcAft>
              <a:buFontTx/>
              <a:buChar char="•"/>
            </a:pPr>
            <a:r>
              <a:rPr kumimoji="0" lang="en-US" altLang="en-US" sz="14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PANet (Path Aggregation Network):</a:t>
            </a:r>
            <a:r>
              <a:rPr kumimoji="0" lang="en-US" altLang="en-US" sz="1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Combines "low-level" spatial features (where things are) with "high-level" semantic features (what things are).</a:t>
            </a:r>
          </a:p>
          <a:p>
            <a:pPr lvl="1" eaLnBrk="0" fontAlgn="base" hangingPunct="0">
              <a:lnSpc>
                <a:spcPct val="150000"/>
              </a:lnSpc>
              <a:spcBef>
                <a:spcPct val="0"/>
              </a:spcBef>
              <a:spcAft>
                <a:spcPct val="0"/>
              </a:spcAft>
              <a:buFontTx/>
              <a:buChar char="•"/>
            </a:pPr>
            <a:r>
              <a:rPr kumimoji="0" lang="en-US" altLang="en-US" sz="1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This ensures the model can accurately detect a person even if they are partially occluded or far from the camera.</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7784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EB8E0-415B-0E23-0904-E511EC9DB91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F44DC94-A500-FD53-EE5D-C367DB50424C}"/>
              </a:ext>
            </a:extLst>
          </p:cNvPr>
          <p:cNvSpPr>
            <a:spLocks noGrp="1"/>
          </p:cNvSpPr>
          <p:nvPr>
            <p:ph type="title"/>
          </p:nvPr>
        </p:nvSpPr>
        <p:spPr>
          <a:xfrm>
            <a:off x="444500" y="542925"/>
            <a:ext cx="11214100" cy="535531"/>
          </a:xfrm>
        </p:spPr>
        <p:txBody>
          <a:bodyPr/>
          <a:lstStyle/>
          <a:p>
            <a:r>
              <a:rPr lang="en-IN" dirty="0"/>
              <a:t>The YOLO11 Detection Pipeline</a:t>
            </a:r>
            <a:endParaRPr lang="en-US" dirty="0"/>
          </a:p>
        </p:txBody>
      </p:sp>
      <p:sp>
        <p:nvSpPr>
          <p:cNvPr id="2" name="Slide Number Placeholder 1">
            <a:extLst>
              <a:ext uri="{FF2B5EF4-FFF2-40B4-BE49-F238E27FC236}">
                <a16:creationId xmlns:a16="http://schemas.microsoft.com/office/drawing/2014/main" id="{1F88772D-B637-EF11-7B84-C8BA034EF97D}"/>
              </a:ext>
            </a:extLst>
          </p:cNvPr>
          <p:cNvSpPr>
            <a:spLocks noGrp="1"/>
          </p:cNvSpPr>
          <p:nvPr>
            <p:ph type="sldNum" sz="quarter" idx="12"/>
          </p:nvPr>
        </p:nvSpPr>
        <p:spPr/>
        <p:txBody>
          <a:bodyPr/>
          <a:lstStyle/>
          <a:p>
            <a:fld id="{C263D6C4-4840-40CC-AC84-17E24B3B7BDE}" type="slidenum">
              <a:rPr lang="en-US" smtClean="0"/>
              <a:pPr/>
              <a:t>17</a:t>
            </a:fld>
            <a:endParaRPr lang="en-US" dirty="0"/>
          </a:p>
        </p:txBody>
      </p:sp>
      <p:sp>
        <p:nvSpPr>
          <p:cNvPr id="7" name="TextBox 6">
            <a:extLst>
              <a:ext uri="{FF2B5EF4-FFF2-40B4-BE49-F238E27FC236}">
                <a16:creationId xmlns:a16="http://schemas.microsoft.com/office/drawing/2014/main" id="{93AEC582-3F13-D104-413A-BCF384B7DFC2}"/>
              </a:ext>
            </a:extLst>
          </p:cNvPr>
          <p:cNvSpPr txBox="1"/>
          <p:nvPr/>
        </p:nvSpPr>
        <p:spPr>
          <a:xfrm>
            <a:off x="257175" y="1685925"/>
            <a:ext cx="12396787" cy="4124206"/>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4. </a:t>
            </a:r>
            <a:r>
              <a:rPr kumimoji="0" lang="en-US" altLang="en-US"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Prediction &amp; Regression (Head)</a:t>
            </a:r>
          </a:p>
          <a:p>
            <a:pPr lvl="1" eaLnBrk="0" fontAlgn="base" hangingPunct="0">
              <a:lnSpc>
                <a:spcPct val="150000"/>
              </a:lnSpc>
              <a:spcBef>
                <a:spcPct val="0"/>
              </a:spcBef>
              <a:spcAft>
                <a:spcPct val="0"/>
              </a:spcAft>
            </a:pPr>
            <a:r>
              <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YOLO11 uses a </a:t>
            </a:r>
            <a:r>
              <a:rPr kumimoji="0" lang="en-US" alt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Decoupled Task-Aligned Head</a:t>
            </a:r>
            <a:r>
              <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to perform three simultaneous tasks:</a:t>
            </a:r>
          </a:p>
          <a:p>
            <a:pPr lvl="1" eaLnBrk="0" fontAlgn="base" hangingPunct="0">
              <a:lnSpc>
                <a:spcPct val="150000"/>
              </a:lnSpc>
              <a:spcBef>
                <a:spcPct val="0"/>
              </a:spcBef>
              <a:spcAft>
                <a:spcPct val="0"/>
              </a:spcAft>
              <a:buFontTx/>
              <a:buChar char="•"/>
            </a:pPr>
            <a:r>
              <a:rPr kumimoji="0" lang="en-US" alt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Classification:</a:t>
            </a:r>
            <a:r>
              <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Determines the probability that the object is a "Person."</a:t>
            </a:r>
          </a:p>
          <a:p>
            <a:pPr lvl="1" eaLnBrk="0" fontAlgn="base" hangingPunct="0">
              <a:lnSpc>
                <a:spcPct val="150000"/>
              </a:lnSpc>
              <a:spcBef>
                <a:spcPct val="0"/>
              </a:spcBef>
              <a:spcAft>
                <a:spcPct val="0"/>
              </a:spcAft>
              <a:buFontTx/>
              <a:buChar char="•"/>
            </a:pPr>
            <a:r>
              <a:rPr kumimoji="0" lang="en-US" alt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Bounding Box Regression:</a:t>
            </a:r>
            <a:r>
              <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Predicts the precise coordinates $(x, y, w, h)$.</a:t>
            </a:r>
          </a:p>
          <a:p>
            <a:pPr lvl="1" eaLnBrk="0" fontAlgn="base" hangingPunct="0">
              <a:lnSpc>
                <a:spcPct val="150000"/>
              </a:lnSpc>
              <a:spcBef>
                <a:spcPct val="0"/>
              </a:spcBef>
              <a:spcAft>
                <a:spcPct val="0"/>
              </a:spcAft>
              <a:buFontTx/>
              <a:buChar char="•"/>
            </a:pPr>
            <a:r>
              <a:rPr kumimoji="0" lang="en-US" alt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chemeClr val="bg1"/>
                </a:solidFill>
                <a:effectLst/>
                <a:latin typeface="Times New Roman" panose="02020603050405020304" pitchFamily="18" charset="0"/>
                <a:cs typeface="Times New Roman" panose="02020603050405020304" pitchFamily="18" charset="0"/>
              </a:rPr>
              <a:t>Keypoint</a:t>
            </a:r>
            <a:r>
              <a:rPr kumimoji="0" lang="en-US" alt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Estimation:</a:t>
            </a:r>
            <a:r>
              <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(If using YOLO11-Pose) Tracks 17 skeletal joints to analyze body posture.</a:t>
            </a:r>
          </a:p>
          <a:p>
            <a:pPr lvl="1" eaLnBrk="0" fontAlgn="base" hangingPunct="0">
              <a:lnSpc>
                <a:spcPct val="150000"/>
              </a:lnSpc>
              <a:spcBef>
                <a:spcPct val="0"/>
              </a:spcBef>
              <a:spcAft>
                <a:spcPct val="0"/>
              </a:spcAft>
              <a:buFontTx/>
              <a:buChar char="•"/>
            </a:pPr>
            <a:endPar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5. </a:t>
            </a:r>
            <a:r>
              <a:rPr kumimoji="0" lang="en-US" altLang="en-US"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Post-Processing &amp; Output</a:t>
            </a:r>
          </a:p>
          <a:p>
            <a:pPr lvl="1" eaLnBrk="0" fontAlgn="base" hangingPunct="0">
              <a:lnSpc>
                <a:spcPct val="150000"/>
              </a:lnSpc>
              <a:spcBef>
                <a:spcPct val="0"/>
              </a:spcBef>
              <a:spcAft>
                <a:spcPct val="0"/>
              </a:spcAft>
              <a:buFontTx/>
              <a:buChar char="•"/>
            </a:pPr>
            <a:r>
              <a:rPr kumimoji="0" lang="en-US" alt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Confidence Thresholding:</a:t>
            </a:r>
            <a:r>
              <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Filters out "weak" detections with low probability scores.</a:t>
            </a:r>
          </a:p>
          <a:p>
            <a:pPr lvl="1" eaLnBrk="0" fontAlgn="base" hangingPunct="0">
              <a:lnSpc>
                <a:spcPct val="150000"/>
              </a:lnSpc>
              <a:spcBef>
                <a:spcPct val="0"/>
              </a:spcBef>
              <a:spcAft>
                <a:spcPct val="0"/>
              </a:spcAft>
              <a:buFontTx/>
              <a:buChar char="•"/>
            </a:pPr>
            <a:r>
              <a:rPr kumimoji="0" lang="en-US" alt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NMS (Non-Maximum Suppression):</a:t>
            </a:r>
            <a:r>
              <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Eliminates overlapping redundant boxes, leaving only one high-accuracy detection per person.</a:t>
            </a:r>
          </a:p>
          <a:p>
            <a:pPr lvl="1" eaLnBrk="0" fontAlgn="base" hangingPunct="0">
              <a:lnSpc>
                <a:spcPct val="150000"/>
              </a:lnSpc>
              <a:spcBef>
                <a:spcPct val="0"/>
              </a:spcBef>
              <a:spcAft>
                <a:spcPct val="0"/>
              </a:spcAft>
              <a:buFontTx/>
              <a:buChar char="•"/>
            </a:pPr>
            <a:r>
              <a:rPr kumimoji="0" lang="en-US" alt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Final Output:</a:t>
            </a:r>
            <a:r>
              <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Provides the coordinates used by your app to calculate if a fall has occurred.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91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ABA83-BCE9-EF76-6F90-6F0329904B5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397832E-B9B6-8AA3-EA59-8F67D4DECCA4}"/>
              </a:ext>
            </a:extLst>
          </p:cNvPr>
          <p:cNvSpPr>
            <a:spLocks noGrp="1"/>
          </p:cNvSpPr>
          <p:nvPr>
            <p:ph type="title"/>
          </p:nvPr>
        </p:nvSpPr>
        <p:spPr>
          <a:xfrm>
            <a:off x="444500" y="542925"/>
            <a:ext cx="11214100" cy="535531"/>
          </a:xfrm>
        </p:spPr>
        <p:txBody>
          <a:bodyPr/>
          <a:lstStyle/>
          <a:p>
            <a:r>
              <a:rPr lang="en-IN" dirty="0"/>
              <a:t>Executive Summary</a:t>
            </a:r>
            <a:endParaRPr lang="en-US" dirty="0"/>
          </a:p>
        </p:txBody>
      </p:sp>
      <p:sp>
        <p:nvSpPr>
          <p:cNvPr id="2" name="Slide Number Placeholder 1">
            <a:extLst>
              <a:ext uri="{FF2B5EF4-FFF2-40B4-BE49-F238E27FC236}">
                <a16:creationId xmlns:a16="http://schemas.microsoft.com/office/drawing/2014/main" id="{2651D094-6D43-0FFF-F072-3EBD79D7C1BD}"/>
              </a:ext>
            </a:extLst>
          </p:cNvPr>
          <p:cNvSpPr>
            <a:spLocks noGrp="1"/>
          </p:cNvSpPr>
          <p:nvPr>
            <p:ph type="sldNum" sz="quarter" idx="12"/>
          </p:nvPr>
        </p:nvSpPr>
        <p:spPr/>
        <p:txBody>
          <a:bodyPr/>
          <a:lstStyle/>
          <a:p>
            <a:fld id="{C263D6C4-4840-40CC-AC84-17E24B3B7BDE}" type="slidenum">
              <a:rPr lang="en-US" smtClean="0"/>
              <a:pPr/>
              <a:t>18</a:t>
            </a:fld>
            <a:endParaRPr lang="en-US" dirty="0"/>
          </a:p>
        </p:txBody>
      </p:sp>
      <p:graphicFrame>
        <p:nvGraphicFramePr>
          <p:cNvPr id="3" name="Table 2">
            <a:extLst>
              <a:ext uri="{FF2B5EF4-FFF2-40B4-BE49-F238E27FC236}">
                <a16:creationId xmlns:a16="http://schemas.microsoft.com/office/drawing/2014/main" id="{AC82C92D-9AB7-DEDB-8FDB-649052005DC7}"/>
              </a:ext>
            </a:extLst>
          </p:cNvPr>
          <p:cNvGraphicFramePr>
            <a:graphicFrameLocks noGrp="1"/>
          </p:cNvGraphicFramePr>
          <p:nvPr>
            <p:extLst>
              <p:ext uri="{D42A27DB-BD31-4B8C-83A1-F6EECF244321}">
                <p14:modId xmlns:p14="http://schemas.microsoft.com/office/powerpoint/2010/main" val="280477394"/>
              </p:ext>
            </p:extLst>
          </p:nvPr>
        </p:nvGraphicFramePr>
        <p:xfrm>
          <a:off x="1328892" y="1825626"/>
          <a:ext cx="7537316" cy="4351336"/>
        </p:xfrm>
        <a:graphic>
          <a:graphicData uri="http://schemas.openxmlformats.org/drawingml/2006/table">
            <a:tbl>
              <a:tblPr>
                <a:tableStyleId>{35758FB7-9AC5-4552-8A53-C91805E547FA}</a:tableStyleId>
              </a:tblPr>
              <a:tblGrid>
                <a:gridCol w="3768658">
                  <a:extLst>
                    <a:ext uri="{9D8B030D-6E8A-4147-A177-3AD203B41FA5}">
                      <a16:colId xmlns:a16="http://schemas.microsoft.com/office/drawing/2014/main" val="2128057404"/>
                    </a:ext>
                  </a:extLst>
                </a:gridCol>
                <a:gridCol w="3768658">
                  <a:extLst>
                    <a:ext uri="{9D8B030D-6E8A-4147-A177-3AD203B41FA5}">
                      <a16:colId xmlns:a16="http://schemas.microsoft.com/office/drawing/2014/main" val="2897356214"/>
                    </a:ext>
                  </a:extLst>
                </a:gridCol>
              </a:tblGrid>
              <a:tr h="471164">
                <a:tc>
                  <a:txBody>
                    <a:bodyPr/>
                    <a:lstStyle/>
                    <a:p>
                      <a:pPr rtl="0">
                        <a:buNone/>
                      </a:pPr>
                      <a:r>
                        <a:rPr lang="en-IN" sz="1600" b="1">
                          <a:solidFill>
                            <a:schemeClr val="bg1"/>
                          </a:solidFill>
                          <a:effectLst/>
                        </a:rPr>
                        <a:t>Metric</a:t>
                      </a:r>
                      <a:endParaRPr lang="en-IN" sz="1600">
                        <a:solidFill>
                          <a:schemeClr val="bg1"/>
                        </a:solidFill>
                        <a:effectLst/>
                        <a:latin typeface="Google Sans Text"/>
                      </a:endParaRPr>
                    </a:p>
                  </a:txBody>
                  <a:tcPr marL="83147" marR="83147" marT="110862" marB="110862" anchor="ctr"/>
                </a:tc>
                <a:tc>
                  <a:txBody>
                    <a:bodyPr/>
                    <a:lstStyle/>
                    <a:p>
                      <a:pPr rtl="0">
                        <a:buNone/>
                      </a:pPr>
                      <a:r>
                        <a:rPr lang="en-IN" sz="1600" b="1">
                          <a:solidFill>
                            <a:schemeClr val="bg1"/>
                          </a:solidFill>
                          <a:effectLst/>
                        </a:rPr>
                        <a:t>Value</a:t>
                      </a:r>
                      <a:endParaRPr lang="en-IN" sz="1600">
                        <a:solidFill>
                          <a:schemeClr val="bg1"/>
                        </a:solidFill>
                        <a:effectLst/>
                        <a:latin typeface="Google Sans Text"/>
                      </a:endParaRPr>
                    </a:p>
                  </a:txBody>
                  <a:tcPr marL="83147" marR="83147" marT="110862" marB="110862" anchor="ctr"/>
                </a:tc>
                <a:extLst>
                  <a:ext uri="{0D108BD9-81ED-4DB2-BD59-A6C34878D82A}">
                    <a16:rowId xmlns:a16="http://schemas.microsoft.com/office/drawing/2014/main" val="3616356500"/>
                  </a:ext>
                </a:extLst>
              </a:tr>
              <a:tr h="970043">
                <a:tc>
                  <a:txBody>
                    <a:bodyPr/>
                    <a:lstStyle/>
                    <a:p>
                      <a:pPr rtl="0">
                        <a:buNone/>
                      </a:pPr>
                      <a:r>
                        <a:rPr lang="en-IN" sz="1600" b="1">
                          <a:solidFill>
                            <a:schemeClr val="bg1"/>
                          </a:solidFill>
                          <a:effectLst/>
                        </a:rPr>
                        <a:t>Recall (Sensitivity)</a:t>
                      </a:r>
                      <a:endParaRPr lang="en-IN" sz="1600">
                        <a:solidFill>
                          <a:schemeClr val="bg1"/>
                        </a:solidFill>
                        <a:effectLst/>
                        <a:latin typeface="Google Sans Text"/>
                      </a:endParaRPr>
                    </a:p>
                  </a:txBody>
                  <a:tcPr marL="83147" marR="83147" marT="110862" marB="110862" anchor="ctr"/>
                </a:tc>
                <a:tc>
                  <a:txBody>
                    <a:bodyPr/>
                    <a:lstStyle/>
                    <a:p>
                      <a:pPr rtl="0">
                        <a:buNone/>
                      </a:pPr>
                      <a:r>
                        <a:rPr lang="en-IN" sz="1600" b="1">
                          <a:solidFill>
                            <a:schemeClr val="bg1"/>
                          </a:solidFill>
                          <a:effectLst/>
                        </a:rPr>
                        <a:t>86.3%</a:t>
                      </a:r>
                      <a:endParaRPr lang="en-IN" sz="1600">
                        <a:solidFill>
                          <a:schemeClr val="bg1"/>
                        </a:solidFill>
                        <a:effectLst/>
                        <a:latin typeface="Google Sans Text"/>
                      </a:endParaRPr>
                    </a:p>
                  </a:txBody>
                  <a:tcPr marL="83147" marR="83147" marT="110862" marB="110862" anchor="ctr"/>
                </a:tc>
                <a:extLst>
                  <a:ext uri="{0D108BD9-81ED-4DB2-BD59-A6C34878D82A}">
                    <a16:rowId xmlns:a16="http://schemas.microsoft.com/office/drawing/2014/main" val="172181959"/>
                  </a:ext>
                </a:extLst>
              </a:tr>
              <a:tr h="970043">
                <a:tc>
                  <a:txBody>
                    <a:bodyPr/>
                    <a:lstStyle/>
                    <a:p>
                      <a:pPr rtl="0">
                        <a:buNone/>
                      </a:pPr>
                      <a:r>
                        <a:rPr lang="en-IN" sz="1600" b="1">
                          <a:solidFill>
                            <a:schemeClr val="bg1"/>
                          </a:solidFill>
                          <a:effectLst/>
                        </a:rPr>
                        <a:t>Precision</a:t>
                      </a:r>
                      <a:endParaRPr lang="en-IN" sz="1600">
                        <a:solidFill>
                          <a:schemeClr val="bg1"/>
                        </a:solidFill>
                        <a:effectLst/>
                        <a:latin typeface="Google Sans Text"/>
                      </a:endParaRPr>
                    </a:p>
                  </a:txBody>
                  <a:tcPr marL="83147" marR="83147" marT="110862" marB="110862" anchor="ctr"/>
                </a:tc>
                <a:tc>
                  <a:txBody>
                    <a:bodyPr/>
                    <a:lstStyle/>
                    <a:p>
                      <a:pPr rtl="0">
                        <a:buNone/>
                      </a:pPr>
                      <a:r>
                        <a:rPr lang="en-IN" sz="1600" b="1">
                          <a:solidFill>
                            <a:schemeClr val="bg1"/>
                          </a:solidFill>
                          <a:effectLst/>
                        </a:rPr>
                        <a:t>78.2%</a:t>
                      </a:r>
                      <a:endParaRPr lang="en-IN" sz="1600">
                        <a:solidFill>
                          <a:schemeClr val="bg1"/>
                        </a:solidFill>
                        <a:effectLst/>
                        <a:latin typeface="Google Sans Text"/>
                      </a:endParaRPr>
                    </a:p>
                  </a:txBody>
                  <a:tcPr marL="83147" marR="83147" marT="110862" marB="110862" anchor="ctr"/>
                </a:tc>
                <a:extLst>
                  <a:ext uri="{0D108BD9-81ED-4DB2-BD59-A6C34878D82A}">
                    <a16:rowId xmlns:a16="http://schemas.microsoft.com/office/drawing/2014/main" val="4178387226"/>
                  </a:ext>
                </a:extLst>
              </a:tr>
              <a:tr h="970043">
                <a:tc>
                  <a:txBody>
                    <a:bodyPr/>
                    <a:lstStyle/>
                    <a:p>
                      <a:pPr rtl="0">
                        <a:buNone/>
                      </a:pPr>
                      <a:r>
                        <a:rPr lang="en-IN" sz="1600" b="1">
                          <a:solidFill>
                            <a:schemeClr val="bg1"/>
                          </a:solidFill>
                          <a:effectLst/>
                        </a:rPr>
                        <a:t>mAP@50</a:t>
                      </a:r>
                      <a:endParaRPr lang="en-IN" sz="1600">
                        <a:solidFill>
                          <a:schemeClr val="bg1"/>
                        </a:solidFill>
                        <a:effectLst/>
                        <a:latin typeface="Google Sans Text"/>
                      </a:endParaRPr>
                    </a:p>
                  </a:txBody>
                  <a:tcPr marL="83147" marR="83147" marT="110862" marB="110862" anchor="ctr"/>
                </a:tc>
                <a:tc>
                  <a:txBody>
                    <a:bodyPr/>
                    <a:lstStyle/>
                    <a:p>
                      <a:pPr rtl="0">
                        <a:buNone/>
                      </a:pPr>
                      <a:r>
                        <a:rPr lang="en-IN" sz="1600" b="1">
                          <a:solidFill>
                            <a:schemeClr val="bg1"/>
                          </a:solidFill>
                          <a:effectLst/>
                        </a:rPr>
                        <a:t>81.9%</a:t>
                      </a:r>
                      <a:endParaRPr lang="en-IN" sz="1600">
                        <a:solidFill>
                          <a:schemeClr val="bg1"/>
                        </a:solidFill>
                        <a:effectLst/>
                        <a:latin typeface="Google Sans Text"/>
                      </a:endParaRPr>
                    </a:p>
                  </a:txBody>
                  <a:tcPr marL="83147" marR="83147" marT="110862" marB="110862" anchor="ctr"/>
                </a:tc>
                <a:extLst>
                  <a:ext uri="{0D108BD9-81ED-4DB2-BD59-A6C34878D82A}">
                    <a16:rowId xmlns:a16="http://schemas.microsoft.com/office/drawing/2014/main" val="1540080989"/>
                  </a:ext>
                </a:extLst>
              </a:tr>
              <a:tr h="970043">
                <a:tc>
                  <a:txBody>
                    <a:bodyPr/>
                    <a:lstStyle/>
                    <a:p>
                      <a:pPr rtl="0">
                        <a:buNone/>
                      </a:pPr>
                      <a:r>
                        <a:rPr lang="en-IN" sz="1600" b="1">
                          <a:solidFill>
                            <a:schemeClr val="bg1"/>
                          </a:solidFill>
                          <a:effectLst/>
                        </a:rPr>
                        <a:t>Fitness Score</a:t>
                      </a:r>
                      <a:endParaRPr lang="en-IN" sz="1600">
                        <a:solidFill>
                          <a:schemeClr val="bg1"/>
                        </a:solidFill>
                        <a:effectLst/>
                        <a:latin typeface="Google Sans Text"/>
                      </a:endParaRPr>
                    </a:p>
                  </a:txBody>
                  <a:tcPr marL="83147" marR="83147" marT="110862" marB="110862" anchor="ctr"/>
                </a:tc>
                <a:tc>
                  <a:txBody>
                    <a:bodyPr/>
                    <a:lstStyle/>
                    <a:p>
                      <a:pPr rtl="0">
                        <a:buNone/>
                      </a:pPr>
                      <a:r>
                        <a:rPr lang="en-IN" sz="1600" b="1" dirty="0">
                          <a:solidFill>
                            <a:schemeClr val="bg1"/>
                          </a:solidFill>
                          <a:effectLst/>
                        </a:rPr>
                        <a:t>0.687</a:t>
                      </a:r>
                      <a:endParaRPr lang="en-IN" sz="1600" dirty="0">
                        <a:solidFill>
                          <a:schemeClr val="bg1"/>
                        </a:solidFill>
                        <a:effectLst/>
                        <a:latin typeface="Google Sans Text"/>
                      </a:endParaRPr>
                    </a:p>
                  </a:txBody>
                  <a:tcPr marL="83147" marR="83147" marT="110862" marB="110862" anchor="ctr"/>
                </a:tc>
                <a:extLst>
                  <a:ext uri="{0D108BD9-81ED-4DB2-BD59-A6C34878D82A}">
                    <a16:rowId xmlns:a16="http://schemas.microsoft.com/office/drawing/2014/main" val="95287679"/>
                  </a:ext>
                </a:extLst>
              </a:tr>
            </a:tbl>
          </a:graphicData>
        </a:graphic>
      </p:graphicFrame>
    </p:spTree>
    <p:extLst>
      <p:ext uri="{BB962C8B-B14F-4D97-AF65-F5344CB8AC3E}">
        <p14:creationId xmlns:p14="http://schemas.microsoft.com/office/powerpoint/2010/main" val="1991110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73690-8022-BFBD-7E22-7F0235D723B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EF673BA-CE8F-8311-2320-FB6D3B6BE64E}"/>
              </a:ext>
            </a:extLst>
          </p:cNvPr>
          <p:cNvSpPr>
            <a:spLocks noGrp="1"/>
          </p:cNvSpPr>
          <p:nvPr>
            <p:ph type="title"/>
          </p:nvPr>
        </p:nvSpPr>
        <p:spPr>
          <a:xfrm>
            <a:off x="444500" y="542925"/>
            <a:ext cx="11214100" cy="535531"/>
          </a:xfrm>
        </p:spPr>
        <p:txBody>
          <a:bodyPr/>
          <a:lstStyle/>
          <a:p>
            <a:r>
              <a:rPr lang="en-GB" dirty="0"/>
              <a:t>Results</a:t>
            </a:r>
            <a:endParaRPr lang="en-US" dirty="0"/>
          </a:p>
        </p:txBody>
      </p:sp>
      <p:sp>
        <p:nvSpPr>
          <p:cNvPr id="2" name="Slide Number Placeholder 1">
            <a:extLst>
              <a:ext uri="{FF2B5EF4-FFF2-40B4-BE49-F238E27FC236}">
                <a16:creationId xmlns:a16="http://schemas.microsoft.com/office/drawing/2014/main" id="{F6C2D6FF-877C-E1E7-254C-665101F035ED}"/>
              </a:ext>
            </a:extLst>
          </p:cNvPr>
          <p:cNvSpPr>
            <a:spLocks noGrp="1"/>
          </p:cNvSpPr>
          <p:nvPr>
            <p:ph type="sldNum" sz="quarter" idx="12"/>
          </p:nvPr>
        </p:nvSpPr>
        <p:spPr/>
        <p:txBody>
          <a:bodyPr/>
          <a:lstStyle/>
          <a:p>
            <a:fld id="{C263D6C4-4840-40CC-AC84-17E24B3B7BDE}" type="slidenum">
              <a:rPr lang="en-US" smtClean="0"/>
              <a:pPr/>
              <a:t>19</a:t>
            </a:fld>
            <a:endParaRPr lang="en-US" dirty="0"/>
          </a:p>
        </p:txBody>
      </p:sp>
      <p:pic>
        <p:nvPicPr>
          <p:cNvPr id="6" name="Picture 5">
            <a:extLst>
              <a:ext uri="{FF2B5EF4-FFF2-40B4-BE49-F238E27FC236}">
                <a16:creationId xmlns:a16="http://schemas.microsoft.com/office/drawing/2014/main" id="{5595FDA2-B38E-4032-82DA-879D04AACEE2}"/>
              </a:ext>
            </a:extLst>
          </p:cNvPr>
          <p:cNvPicPr>
            <a:picLocks noChangeAspect="1"/>
          </p:cNvPicPr>
          <p:nvPr/>
        </p:nvPicPr>
        <p:blipFill>
          <a:blip r:embed="rId2"/>
          <a:stretch>
            <a:fillRect/>
          </a:stretch>
        </p:blipFill>
        <p:spPr>
          <a:xfrm>
            <a:off x="533400" y="1565793"/>
            <a:ext cx="8638592" cy="4749282"/>
          </a:xfrm>
          <a:prstGeom prst="rect">
            <a:avLst/>
          </a:prstGeom>
        </p:spPr>
      </p:pic>
    </p:spTree>
    <p:extLst>
      <p:ext uri="{BB962C8B-B14F-4D97-AF65-F5344CB8AC3E}">
        <p14:creationId xmlns:p14="http://schemas.microsoft.com/office/powerpoint/2010/main" val="2043279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1BF72-F9B6-AA75-10D6-F2D9CBFD00E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6AFBCDB-56B7-02D5-EB71-0FBD091A670B}"/>
              </a:ext>
            </a:extLst>
          </p:cNvPr>
          <p:cNvSpPr>
            <a:spLocks noGrp="1"/>
          </p:cNvSpPr>
          <p:nvPr>
            <p:ph type="title"/>
          </p:nvPr>
        </p:nvSpPr>
        <p:spPr>
          <a:xfrm>
            <a:off x="444500" y="542925"/>
            <a:ext cx="11214100" cy="535531"/>
          </a:xfrm>
        </p:spPr>
        <p:txBody>
          <a:bodyPr/>
          <a:lstStyle/>
          <a:p>
            <a:r>
              <a:rPr lang="en-GB" dirty="0"/>
              <a:t>Results</a:t>
            </a:r>
            <a:endParaRPr lang="en-US" dirty="0"/>
          </a:p>
        </p:txBody>
      </p:sp>
      <p:sp>
        <p:nvSpPr>
          <p:cNvPr id="2" name="Slide Number Placeholder 1">
            <a:extLst>
              <a:ext uri="{FF2B5EF4-FFF2-40B4-BE49-F238E27FC236}">
                <a16:creationId xmlns:a16="http://schemas.microsoft.com/office/drawing/2014/main" id="{C3251998-DC76-B085-8B89-E22B6822228A}"/>
              </a:ext>
            </a:extLst>
          </p:cNvPr>
          <p:cNvSpPr>
            <a:spLocks noGrp="1"/>
          </p:cNvSpPr>
          <p:nvPr>
            <p:ph type="sldNum" sz="quarter" idx="12"/>
          </p:nvPr>
        </p:nvSpPr>
        <p:spPr/>
        <p:txBody>
          <a:bodyPr/>
          <a:lstStyle/>
          <a:p>
            <a:fld id="{C263D6C4-4840-40CC-AC84-17E24B3B7BDE}" type="slidenum">
              <a:rPr lang="en-US" smtClean="0"/>
              <a:pPr/>
              <a:t>20</a:t>
            </a:fld>
            <a:endParaRPr lang="en-US" dirty="0"/>
          </a:p>
        </p:txBody>
      </p:sp>
      <p:pic>
        <p:nvPicPr>
          <p:cNvPr id="3" name="Google Shape;260;p37">
            <a:extLst>
              <a:ext uri="{FF2B5EF4-FFF2-40B4-BE49-F238E27FC236}">
                <a16:creationId xmlns:a16="http://schemas.microsoft.com/office/drawing/2014/main" id="{A67DA2B4-AB3C-97A6-9030-58D431525D26}"/>
              </a:ext>
            </a:extLst>
          </p:cNvPr>
          <p:cNvPicPr preferRelativeResize="0"/>
          <p:nvPr/>
        </p:nvPicPr>
        <p:blipFill>
          <a:blip r:embed="rId2">
            <a:alphaModFix/>
          </a:blip>
          <a:srcRect l="1" r="460" b="4793"/>
          <a:stretch>
            <a:fillRect/>
          </a:stretch>
        </p:blipFill>
        <p:spPr>
          <a:xfrm>
            <a:off x="574671" y="1448902"/>
            <a:ext cx="8903626" cy="4509445"/>
          </a:xfrm>
          <a:prstGeom prst="rect">
            <a:avLst/>
          </a:prstGeom>
          <a:noFill/>
          <a:ln>
            <a:noFill/>
          </a:ln>
        </p:spPr>
      </p:pic>
    </p:spTree>
    <p:extLst>
      <p:ext uri="{BB962C8B-B14F-4D97-AF65-F5344CB8AC3E}">
        <p14:creationId xmlns:p14="http://schemas.microsoft.com/office/powerpoint/2010/main" val="119682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5A330-8ECA-0FC2-9491-31DFB3526CA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9E63252-5BB8-86DD-9234-3EDE996B8323}"/>
              </a:ext>
            </a:extLst>
          </p:cNvPr>
          <p:cNvSpPr>
            <a:spLocks noGrp="1"/>
          </p:cNvSpPr>
          <p:nvPr>
            <p:ph type="title"/>
          </p:nvPr>
        </p:nvSpPr>
        <p:spPr>
          <a:xfrm>
            <a:off x="444500" y="542925"/>
            <a:ext cx="11214100" cy="535531"/>
          </a:xfrm>
        </p:spPr>
        <p:txBody>
          <a:bodyPr/>
          <a:lstStyle/>
          <a:p>
            <a:r>
              <a:rPr lang="en-GB" dirty="0"/>
              <a:t>Results</a:t>
            </a:r>
            <a:endParaRPr lang="en-US" dirty="0"/>
          </a:p>
        </p:txBody>
      </p:sp>
      <p:sp>
        <p:nvSpPr>
          <p:cNvPr id="2" name="Slide Number Placeholder 1">
            <a:extLst>
              <a:ext uri="{FF2B5EF4-FFF2-40B4-BE49-F238E27FC236}">
                <a16:creationId xmlns:a16="http://schemas.microsoft.com/office/drawing/2014/main" id="{653B21A1-E8A6-C348-4EBA-39942DD027E2}"/>
              </a:ext>
            </a:extLst>
          </p:cNvPr>
          <p:cNvSpPr>
            <a:spLocks noGrp="1"/>
          </p:cNvSpPr>
          <p:nvPr>
            <p:ph type="sldNum" sz="quarter" idx="12"/>
          </p:nvPr>
        </p:nvSpPr>
        <p:spPr/>
        <p:txBody>
          <a:bodyPr/>
          <a:lstStyle/>
          <a:p>
            <a:fld id="{C263D6C4-4840-40CC-AC84-17E24B3B7BDE}" type="slidenum">
              <a:rPr lang="en-US" smtClean="0"/>
              <a:pPr/>
              <a:t>21</a:t>
            </a:fld>
            <a:endParaRPr lang="en-US" dirty="0"/>
          </a:p>
        </p:txBody>
      </p:sp>
      <p:pic>
        <p:nvPicPr>
          <p:cNvPr id="3" name="Google Shape;268;p38">
            <a:extLst>
              <a:ext uri="{FF2B5EF4-FFF2-40B4-BE49-F238E27FC236}">
                <a16:creationId xmlns:a16="http://schemas.microsoft.com/office/drawing/2014/main" id="{825F703C-4FBC-4FEB-00C8-38BBE8189B0B}"/>
              </a:ext>
            </a:extLst>
          </p:cNvPr>
          <p:cNvPicPr preferRelativeResize="0"/>
          <p:nvPr/>
        </p:nvPicPr>
        <p:blipFill>
          <a:blip r:embed="rId2">
            <a:alphaModFix/>
          </a:blip>
          <a:srcRect b="9190"/>
          <a:stretch>
            <a:fillRect/>
          </a:stretch>
        </p:blipFill>
        <p:spPr>
          <a:xfrm>
            <a:off x="719804" y="1588455"/>
            <a:ext cx="7353100" cy="3681090"/>
          </a:xfrm>
          <a:prstGeom prst="rect">
            <a:avLst/>
          </a:prstGeom>
          <a:noFill/>
          <a:ln>
            <a:noFill/>
          </a:ln>
        </p:spPr>
      </p:pic>
    </p:spTree>
    <p:extLst>
      <p:ext uri="{BB962C8B-B14F-4D97-AF65-F5344CB8AC3E}">
        <p14:creationId xmlns:p14="http://schemas.microsoft.com/office/powerpoint/2010/main" val="220134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48902-5A3B-BF0B-00A9-9DC180EFE7B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8C5FD49-17BC-7B32-EF21-1DC7E1E3E1CB}"/>
              </a:ext>
            </a:extLst>
          </p:cNvPr>
          <p:cNvSpPr>
            <a:spLocks noGrp="1"/>
          </p:cNvSpPr>
          <p:nvPr>
            <p:ph type="title"/>
          </p:nvPr>
        </p:nvSpPr>
        <p:spPr>
          <a:xfrm>
            <a:off x="444500" y="542925"/>
            <a:ext cx="11214100" cy="535531"/>
          </a:xfrm>
        </p:spPr>
        <p:txBody>
          <a:bodyPr/>
          <a:lstStyle/>
          <a:p>
            <a:r>
              <a:rPr lang="en-GB" dirty="0"/>
              <a:t>Results</a:t>
            </a:r>
            <a:endParaRPr lang="en-US" dirty="0"/>
          </a:p>
        </p:txBody>
      </p:sp>
      <p:sp>
        <p:nvSpPr>
          <p:cNvPr id="2" name="Slide Number Placeholder 1">
            <a:extLst>
              <a:ext uri="{FF2B5EF4-FFF2-40B4-BE49-F238E27FC236}">
                <a16:creationId xmlns:a16="http://schemas.microsoft.com/office/drawing/2014/main" id="{E61B4A22-596A-1F97-EAF5-32FD3D11BD2C}"/>
              </a:ext>
            </a:extLst>
          </p:cNvPr>
          <p:cNvSpPr>
            <a:spLocks noGrp="1"/>
          </p:cNvSpPr>
          <p:nvPr>
            <p:ph type="sldNum" sz="quarter" idx="12"/>
          </p:nvPr>
        </p:nvSpPr>
        <p:spPr/>
        <p:txBody>
          <a:bodyPr/>
          <a:lstStyle/>
          <a:p>
            <a:fld id="{C263D6C4-4840-40CC-AC84-17E24B3B7BDE}" type="slidenum">
              <a:rPr lang="en-US" smtClean="0"/>
              <a:pPr/>
              <a:t>22</a:t>
            </a:fld>
            <a:endParaRPr lang="en-US" dirty="0"/>
          </a:p>
        </p:txBody>
      </p:sp>
      <p:pic>
        <p:nvPicPr>
          <p:cNvPr id="3" name="Google Shape;276;p39">
            <a:extLst>
              <a:ext uri="{FF2B5EF4-FFF2-40B4-BE49-F238E27FC236}">
                <a16:creationId xmlns:a16="http://schemas.microsoft.com/office/drawing/2014/main" id="{99BDB1A1-B19A-C933-004B-7654986C53A0}"/>
              </a:ext>
            </a:extLst>
          </p:cNvPr>
          <p:cNvPicPr preferRelativeResize="0"/>
          <p:nvPr/>
        </p:nvPicPr>
        <p:blipFill>
          <a:blip r:embed="rId2">
            <a:alphaModFix/>
          </a:blip>
          <a:srcRect b="5868"/>
          <a:stretch>
            <a:fillRect/>
          </a:stretch>
        </p:blipFill>
        <p:spPr>
          <a:xfrm>
            <a:off x="584272" y="1538923"/>
            <a:ext cx="7798476" cy="3741000"/>
          </a:xfrm>
          <a:prstGeom prst="rect">
            <a:avLst/>
          </a:prstGeom>
          <a:noFill/>
          <a:ln>
            <a:noFill/>
          </a:ln>
        </p:spPr>
      </p:pic>
    </p:spTree>
    <p:extLst>
      <p:ext uri="{BB962C8B-B14F-4D97-AF65-F5344CB8AC3E}">
        <p14:creationId xmlns:p14="http://schemas.microsoft.com/office/powerpoint/2010/main" val="3772031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CE651-2402-CC43-881E-8C1A0618AF8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D9C798A-BA0F-ACFF-BC34-59296341AAB0}"/>
              </a:ext>
            </a:extLst>
          </p:cNvPr>
          <p:cNvSpPr>
            <a:spLocks noGrp="1"/>
          </p:cNvSpPr>
          <p:nvPr>
            <p:ph type="title"/>
          </p:nvPr>
        </p:nvSpPr>
        <p:spPr>
          <a:xfrm>
            <a:off x="444500" y="542925"/>
            <a:ext cx="11214100" cy="535531"/>
          </a:xfrm>
        </p:spPr>
        <p:txBody>
          <a:bodyPr/>
          <a:lstStyle/>
          <a:p>
            <a:r>
              <a:rPr lang="en-GB" dirty="0"/>
              <a:t>Results</a:t>
            </a:r>
            <a:endParaRPr lang="en-US" dirty="0"/>
          </a:p>
        </p:txBody>
      </p:sp>
      <p:sp>
        <p:nvSpPr>
          <p:cNvPr id="2" name="Slide Number Placeholder 1">
            <a:extLst>
              <a:ext uri="{FF2B5EF4-FFF2-40B4-BE49-F238E27FC236}">
                <a16:creationId xmlns:a16="http://schemas.microsoft.com/office/drawing/2014/main" id="{F3068550-6E4A-979F-A3EB-9F46790231FC}"/>
              </a:ext>
            </a:extLst>
          </p:cNvPr>
          <p:cNvSpPr>
            <a:spLocks noGrp="1"/>
          </p:cNvSpPr>
          <p:nvPr>
            <p:ph type="sldNum" sz="quarter" idx="12"/>
          </p:nvPr>
        </p:nvSpPr>
        <p:spPr/>
        <p:txBody>
          <a:bodyPr/>
          <a:lstStyle/>
          <a:p>
            <a:fld id="{C263D6C4-4840-40CC-AC84-17E24B3B7BDE}" type="slidenum">
              <a:rPr lang="en-US" smtClean="0"/>
              <a:pPr/>
              <a:t>23</a:t>
            </a:fld>
            <a:endParaRPr lang="en-US" dirty="0"/>
          </a:p>
        </p:txBody>
      </p:sp>
      <p:pic>
        <p:nvPicPr>
          <p:cNvPr id="9" name="Picture 8">
            <a:extLst>
              <a:ext uri="{FF2B5EF4-FFF2-40B4-BE49-F238E27FC236}">
                <a16:creationId xmlns:a16="http://schemas.microsoft.com/office/drawing/2014/main" id="{FAA9F7FC-0EA4-5996-CA6E-6040E0B1EF4F}"/>
              </a:ext>
            </a:extLst>
          </p:cNvPr>
          <p:cNvPicPr>
            <a:picLocks noChangeAspect="1"/>
          </p:cNvPicPr>
          <p:nvPr/>
        </p:nvPicPr>
        <p:blipFill>
          <a:blip r:embed="rId2"/>
          <a:stretch>
            <a:fillRect/>
          </a:stretch>
        </p:blipFill>
        <p:spPr>
          <a:xfrm>
            <a:off x="1730397" y="1257714"/>
            <a:ext cx="3470867" cy="5239923"/>
          </a:xfrm>
          <a:prstGeom prst="rect">
            <a:avLst/>
          </a:prstGeom>
        </p:spPr>
      </p:pic>
    </p:spTree>
    <p:extLst>
      <p:ext uri="{BB962C8B-B14F-4D97-AF65-F5344CB8AC3E}">
        <p14:creationId xmlns:p14="http://schemas.microsoft.com/office/powerpoint/2010/main" val="3427933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75B02-C80A-273A-40E1-D722C088646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483DCBB-8480-4EBE-02E8-4920EF8A6C34}"/>
              </a:ext>
            </a:extLst>
          </p:cNvPr>
          <p:cNvSpPr>
            <a:spLocks noGrp="1"/>
          </p:cNvSpPr>
          <p:nvPr>
            <p:ph type="title"/>
          </p:nvPr>
        </p:nvSpPr>
        <p:spPr>
          <a:xfrm>
            <a:off x="444500" y="542925"/>
            <a:ext cx="11214100" cy="535531"/>
          </a:xfrm>
        </p:spPr>
        <p:txBody>
          <a:bodyPr/>
          <a:lstStyle/>
          <a:p>
            <a:r>
              <a:rPr lang="en-GB" dirty="0"/>
              <a:t>Advantages</a:t>
            </a:r>
            <a:endParaRPr lang="en-US" dirty="0"/>
          </a:p>
        </p:txBody>
      </p:sp>
      <p:sp>
        <p:nvSpPr>
          <p:cNvPr id="2" name="Slide Number Placeholder 1">
            <a:extLst>
              <a:ext uri="{FF2B5EF4-FFF2-40B4-BE49-F238E27FC236}">
                <a16:creationId xmlns:a16="http://schemas.microsoft.com/office/drawing/2014/main" id="{AB598FC0-940B-F9DA-2629-80EB4083CF8F}"/>
              </a:ext>
            </a:extLst>
          </p:cNvPr>
          <p:cNvSpPr>
            <a:spLocks noGrp="1"/>
          </p:cNvSpPr>
          <p:nvPr>
            <p:ph type="sldNum" sz="quarter" idx="12"/>
          </p:nvPr>
        </p:nvSpPr>
        <p:spPr/>
        <p:txBody>
          <a:bodyPr/>
          <a:lstStyle/>
          <a:p>
            <a:fld id="{C263D6C4-4840-40CC-AC84-17E24B3B7BDE}" type="slidenum">
              <a:rPr lang="en-US" smtClean="0"/>
              <a:pPr/>
              <a:t>24</a:t>
            </a:fld>
            <a:endParaRPr lang="en-US" dirty="0"/>
          </a:p>
        </p:txBody>
      </p:sp>
      <p:sp>
        <p:nvSpPr>
          <p:cNvPr id="6" name="TextBox 5">
            <a:extLst>
              <a:ext uri="{FF2B5EF4-FFF2-40B4-BE49-F238E27FC236}">
                <a16:creationId xmlns:a16="http://schemas.microsoft.com/office/drawing/2014/main" id="{7D9E5ACB-1AC2-B74E-37C3-18EE3DFDC5DB}"/>
              </a:ext>
            </a:extLst>
          </p:cNvPr>
          <p:cNvSpPr txBox="1"/>
          <p:nvPr/>
        </p:nvSpPr>
        <p:spPr>
          <a:xfrm>
            <a:off x="835742" y="1789470"/>
            <a:ext cx="8308258" cy="4329475"/>
          </a:xfrm>
          <a:prstGeom prst="rect">
            <a:avLst/>
          </a:prstGeom>
          <a:noFill/>
        </p:spPr>
        <p:txBody>
          <a:bodyPr wrap="square">
            <a:spAutoFit/>
          </a:bodyPr>
          <a:lstStyle/>
          <a:p>
            <a:pPr marL="457200" lvl="0" indent="-318611" algn="l" rtl="0">
              <a:lnSpc>
                <a:spcPct val="95000"/>
              </a:lnSpc>
              <a:spcBef>
                <a:spcPts val="0"/>
              </a:spcBef>
              <a:spcAft>
                <a:spcPts val="0"/>
              </a:spcAft>
              <a:buClr>
                <a:srgbClr val="000000"/>
              </a:buClr>
              <a:buSzPts val="1418"/>
              <a:buFont typeface="Arial"/>
              <a:buChar char="●"/>
            </a:pPr>
            <a:r>
              <a:rPr lang="en-US" sz="1800" b="1" dirty="0">
                <a:solidFill>
                  <a:schemeClr val="bg1"/>
                </a:solidFill>
                <a:latin typeface="Arial"/>
                <a:ea typeface="Arial"/>
                <a:cs typeface="Arial"/>
                <a:sym typeface="Arial"/>
              </a:rPr>
              <a:t>Real-Time Fall Detection:     </a:t>
            </a:r>
            <a:r>
              <a:rPr lang="en-US" sz="1800" dirty="0">
                <a:solidFill>
                  <a:schemeClr val="bg1"/>
                </a:solidFill>
                <a:latin typeface="Arial"/>
                <a:ea typeface="Arial"/>
                <a:cs typeface="Arial"/>
                <a:sym typeface="Arial"/>
              </a:rPr>
              <a:t>Detects falls instantly and reduces response time</a:t>
            </a:r>
            <a:br>
              <a:rPr lang="en-US" sz="1800" dirty="0">
                <a:solidFill>
                  <a:schemeClr val="bg1"/>
                </a:solidFill>
                <a:latin typeface="Arial"/>
                <a:ea typeface="Arial"/>
                <a:cs typeface="Arial"/>
                <a:sym typeface="Arial"/>
              </a:rPr>
            </a:br>
            <a:endParaRPr lang="en-US" sz="1800" dirty="0">
              <a:solidFill>
                <a:schemeClr val="bg1"/>
              </a:solidFill>
              <a:latin typeface="Arial"/>
              <a:ea typeface="Arial"/>
              <a:cs typeface="Arial"/>
              <a:sym typeface="Arial"/>
            </a:endParaRPr>
          </a:p>
          <a:p>
            <a:pPr marL="457200" lvl="0" indent="-318611" algn="l" rtl="0">
              <a:lnSpc>
                <a:spcPct val="95000"/>
              </a:lnSpc>
              <a:spcBef>
                <a:spcPts val="0"/>
              </a:spcBef>
              <a:spcAft>
                <a:spcPts val="0"/>
              </a:spcAft>
              <a:buClr>
                <a:srgbClr val="000000"/>
              </a:buClr>
              <a:buSzPts val="1418"/>
              <a:buFont typeface="Arial"/>
              <a:buChar char="●"/>
            </a:pPr>
            <a:r>
              <a:rPr lang="en-US" sz="1800" b="1" dirty="0">
                <a:solidFill>
                  <a:schemeClr val="bg1"/>
                </a:solidFill>
                <a:latin typeface="Arial"/>
                <a:ea typeface="Arial"/>
                <a:cs typeface="Arial"/>
                <a:sym typeface="Arial"/>
              </a:rPr>
              <a:t>High Accuracy:    </a:t>
            </a:r>
            <a:r>
              <a:rPr lang="en-US" sz="1800" dirty="0">
                <a:solidFill>
                  <a:schemeClr val="bg1"/>
                </a:solidFill>
                <a:latin typeface="Arial"/>
                <a:ea typeface="Arial"/>
                <a:cs typeface="Arial"/>
                <a:sym typeface="Arial"/>
              </a:rPr>
              <a:t>Uses AI models like </a:t>
            </a:r>
            <a:r>
              <a:rPr lang="en-US" sz="1800" dirty="0" err="1">
                <a:solidFill>
                  <a:schemeClr val="bg1"/>
                </a:solidFill>
                <a:latin typeface="Arial"/>
                <a:ea typeface="Arial"/>
                <a:cs typeface="Arial"/>
                <a:sym typeface="Arial"/>
              </a:rPr>
              <a:t>Ultralytics</a:t>
            </a:r>
            <a:r>
              <a:rPr lang="en-US" sz="1800" dirty="0">
                <a:solidFill>
                  <a:schemeClr val="bg1"/>
                </a:solidFill>
                <a:latin typeface="Arial"/>
                <a:ea typeface="Arial"/>
                <a:cs typeface="Arial"/>
                <a:sym typeface="Arial"/>
              </a:rPr>
              <a:t> YOLO for reliable detection</a:t>
            </a:r>
            <a:br>
              <a:rPr lang="en-US" sz="1800" dirty="0">
                <a:solidFill>
                  <a:schemeClr val="bg1"/>
                </a:solidFill>
                <a:latin typeface="Arial"/>
                <a:ea typeface="Arial"/>
                <a:cs typeface="Arial"/>
                <a:sym typeface="Arial"/>
              </a:rPr>
            </a:br>
            <a:endParaRPr lang="en-US" sz="1800" dirty="0">
              <a:solidFill>
                <a:schemeClr val="bg1"/>
              </a:solidFill>
              <a:latin typeface="Arial"/>
              <a:ea typeface="Arial"/>
              <a:cs typeface="Arial"/>
              <a:sym typeface="Arial"/>
            </a:endParaRPr>
          </a:p>
          <a:p>
            <a:pPr marL="457200" lvl="0" indent="-318611" algn="l" rtl="0">
              <a:lnSpc>
                <a:spcPct val="95000"/>
              </a:lnSpc>
              <a:spcBef>
                <a:spcPts val="0"/>
              </a:spcBef>
              <a:spcAft>
                <a:spcPts val="0"/>
              </a:spcAft>
              <a:buClr>
                <a:srgbClr val="000000"/>
              </a:buClr>
              <a:buSzPts val="1418"/>
              <a:buFont typeface="Arial"/>
              <a:buChar char="●"/>
            </a:pPr>
            <a:r>
              <a:rPr lang="en-US" sz="1800" b="1" dirty="0">
                <a:solidFill>
                  <a:schemeClr val="bg1"/>
                </a:solidFill>
                <a:latin typeface="Arial"/>
                <a:ea typeface="Arial"/>
                <a:cs typeface="Arial"/>
                <a:sym typeface="Arial"/>
              </a:rPr>
              <a:t>No User Interaction Required:   </a:t>
            </a:r>
            <a:r>
              <a:rPr lang="en-US" sz="1800" dirty="0">
                <a:solidFill>
                  <a:schemeClr val="bg1"/>
                </a:solidFill>
                <a:latin typeface="Arial"/>
                <a:ea typeface="Arial"/>
                <a:cs typeface="Arial"/>
                <a:sym typeface="Arial"/>
              </a:rPr>
              <a:t>Fully automated system without manual input</a:t>
            </a:r>
            <a:br>
              <a:rPr lang="en-US" sz="1800" dirty="0">
                <a:solidFill>
                  <a:schemeClr val="bg1"/>
                </a:solidFill>
                <a:latin typeface="Arial"/>
                <a:ea typeface="Arial"/>
                <a:cs typeface="Arial"/>
                <a:sym typeface="Arial"/>
              </a:rPr>
            </a:br>
            <a:endParaRPr lang="en-US" sz="1800" dirty="0">
              <a:solidFill>
                <a:schemeClr val="bg1"/>
              </a:solidFill>
              <a:latin typeface="Arial"/>
              <a:ea typeface="Arial"/>
              <a:cs typeface="Arial"/>
              <a:sym typeface="Arial"/>
            </a:endParaRPr>
          </a:p>
          <a:p>
            <a:pPr marL="457200" lvl="0" indent="-318611" algn="l" rtl="0">
              <a:lnSpc>
                <a:spcPct val="95000"/>
              </a:lnSpc>
              <a:spcBef>
                <a:spcPts val="0"/>
              </a:spcBef>
              <a:spcAft>
                <a:spcPts val="0"/>
              </a:spcAft>
              <a:buClr>
                <a:srgbClr val="000000"/>
              </a:buClr>
              <a:buSzPts val="1418"/>
              <a:buFont typeface="Arial"/>
              <a:buChar char="●"/>
            </a:pPr>
            <a:r>
              <a:rPr lang="en-US" sz="1800" b="1" dirty="0">
                <a:solidFill>
                  <a:schemeClr val="bg1"/>
                </a:solidFill>
                <a:latin typeface="Arial"/>
                <a:ea typeface="Arial"/>
                <a:cs typeface="Arial"/>
                <a:sym typeface="Arial"/>
              </a:rPr>
              <a:t>Continuous Monitoring:   </a:t>
            </a:r>
            <a:r>
              <a:rPr lang="en-US" sz="1800" dirty="0">
                <a:solidFill>
                  <a:schemeClr val="bg1"/>
                </a:solidFill>
                <a:latin typeface="Arial"/>
                <a:ea typeface="Arial"/>
                <a:cs typeface="Arial"/>
                <a:sym typeface="Arial"/>
              </a:rPr>
              <a:t>Works 24/7 using camera-based surveillance</a:t>
            </a:r>
            <a:br>
              <a:rPr lang="en-US" sz="1800" dirty="0">
                <a:solidFill>
                  <a:schemeClr val="bg1"/>
                </a:solidFill>
                <a:latin typeface="Arial"/>
                <a:ea typeface="Arial"/>
                <a:cs typeface="Arial"/>
                <a:sym typeface="Arial"/>
              </a:rPr>
            </a:br>
            <a:endParaRPr lang="en-US" sz="1800" dirty="0">
              <a:solidFill>
                <a:schemeClr val="bg1"/>
              </a:solidFill>
              <a:latin typeface="Arial"/>
              <a:ea typeface="Arial"/>
              <a:cs typeface="Arial"/>
              <a:sym typeface="Arial"/>
            </a:endParaRPr>
          </a:p>
          <a:p>
            <a:pPr marL="457200" lvl="0" indent="-318611" algn="l" rtl="0">
              <a:lnSpc>
                <a:spcPct val="95000"/>
              </a:lnSpc>
              <a:spcBef>
                <a:spcPts val="0"/>
              </a:spcBef>
              <a:spcAft>
                <a:spcPts val="0"/>
              </a:spcAft>
              <a:buClr>
                <a:srgbClr val="000000"/>
              </a:buClr>
              <a:buSzPts val="1418"/>
              <a:buFont typeface="Arial"/>
              <a:buChar char="●"/>
            </a:pPr>
            <a:r>
              <a:rPr lang="en-US" sz="1800" b="1" dirty="0">
                <a:solidFill>
                  <a:schemeClr val="bg1"/>
                </a:solidFill>
                <a:latin typeface="Arial"/>
                <a:ea typeface="Arial"/>
                <a:cs typeface="Arial"/>
                <a:sym typeface="Arial"/>
              </a:rPr>
              <a:t>Immediate Alert System:     </a:t>
            </a:r>
            <a:r>
              <a:rPr lang="en-US" sz="1800" dirty="0">
                <a:solidFill>
                  <a:schemeClr val="bg1"/>
                </a:solidFill>
                <a:latin typeface="Arial"/>
                <a:ea typeface="Arial"/>
                <a:cs typeface="Arial"/>
                <a:sym typeface="Arial"/>
              </a:rPr>
              <a:t>Sends alerts quickly through ESP32</a:t>
            </a:r>
            <a:br>
              <a:rPr lang="en-US" sz="1800" dirty="0">
                <a:solidFill>
                  <a:schemeClr val="bg1"/>
                </a:solidFill>
                <a:latin typeface="Arial"/>
                <a:ea typeface="Arial"/>
                <a:cs typeface="Arial"/>
                <a:sym typeface="Arial"/>
              </a:rPr>
            </a:br>
            <a:endParaRPr lang="en-US" sz="1800" dirty="0">
              <a:solidFill>
                <a:schemeClr val="bg1"/>
              </a:solidFill>
              <a:latin typeface="Arial"/>
              <a:ea typeface="Arial"/>
              <a:cs typeface="Arial"/>
              <a:sym typeface="Arial"/>
            </a:endParaRPr>
          </a:p>
          <a:p>
            <a:pPr marL="457200" lvl="0" indent="-318611" algn="l" rtl="0">
              <a:lnSpc>
                <a:spcPct val="95000"/>
              </a:lnSpc>
              <a:spcBef>
                <a:spcPts val="0"/>
              </a:spcBef>
              <a:spcAft>
                <a:spcPts val="0"/>
              </a:spcAft>
              <a:buClr>
                <a:srgbClr val="000000"/>
              </a:buClr>
              <a:buSzPts val="1418"/>
              <a:buFont typeface="Arial"/>
              <a:buChar char="●"/>
            </a:pPr>
            <a:r>
              <a:rPr lang="en-US" sz="1800" b="1" dirty="0">
                <a:solidFill>
                  <a:schemeClr val="bg1"/>
                </a:solidFill>
                <a:latin typeface="Arial"/>
                <a:ea typeface="Arial"/>
                <a:cs typeface="Arial"/>
                <a:sym typeface="Arial"/>
              </a:rPr>
              <a:t>Cost-Effective Solution:    </a:t>
            </a:r>
            <a:r>
              <a:rPr lang="en-US" sz="1800" dirty="0">
                <a:solidFill>
                  <a:schemeClr val="bg1"/>
                </a:solidFill>
                <a:latin typeface="Arial"/>
                <a:ea typeface="Arial"/>
                <a:cs typeface="Arial"/>
                <a:sym typeface="Arial"/>
              </a:rPr>
              <a:t>Uses affordable hardware components</a:t>
            </a:r>
            <a:br>
              <a:rPr lang="en-US" sz="1800" dirty="0">
                <a:solidFill>
                  <a:schemeClr val="bg1"/>
                </a:solidFill>
                <a:latin typeface="Arial"/>
                <a:ea typeface="Arial"/>
                <a:cs typeface="Arial"/>
                <a:sym typeface="Arial"/>
              </a:rPr>
            </a:br>
            <a:endParaRPr lang="en-US" sz="1800" dirty="0">
              <a:solidFill>
                <a:schemeClr val="bg1"/>
              </a:solidFill>
              <a:latin typeface="Arial"/>
              <a:ea typeface="Arial"/>
              <a:cs typeface="Arial"/>
              <a:sym typeface="Arial"/>
            </a:endParaRPr>
          </a:p>
          <a:p>
            <a:pPr marL="457200" lvl="0" indent="-318611" algn="l" rtl="0">
              <a:lnSpc>
                <a:spcPct val="95000"/>
              </a:lnSpc>
              <a:spcBef>
                <a:spcPts val="0"/>
              </a:spcBef>
              <a:spcAft>
                <a:spcPts val="0"/>
              </a:spcAft>
              <a:buClr>
                <a:srgbClr val="000000"/>
              </a:buClr>
              <a:buSzPts val="1418"/>
              <a:buFont typeface="Arial"/>
              <a:buChar char="●"/>
            </a:pPr>
            <a:r>
              <a:rPr lang="en-US" sz="1800" b="1" dirty="0">
                <a:solidFill>
                  <a:schemeClr val="bg1"/>
                </a:solidFill>
                <a:latin typeface="Arial"/>
                <a:ea typeface="Arial"/>
                <a:cs typeface="Arial"/>
                <a:sym typeface="Arial"/>
              </a:rPr>
              <a:t>Improves Safety:   </a:t>
            </a:r>
            <a:r>
              <a:rPr lang="en-US" sz="1800" dirty="0">
                <a:solidFill>
                  <a:schemeClr val="bg1"/>
                </a:solidFill>
                <a:latin typeface="Arial"/>
                <a:ea typeface="Arial"/>
                <a:cs typeface="Arial"/>
                <a:sym typeface="Arial"/>
              </a:rPr>
              <a:t>Helps elderly and patients get timely assistance</a:t>
            </a:r>
            <a:endParaRPr lang="en-US" sz="2800" dirty="0">
              <a:solidFill>
                <a:schemeClr val="bg1"/>
              </a:solidFill>
            </a:endParaRPr>
          </a:p>
        </p:txBody>
      </p:sp>
    </p:spTree>
    <p:extLst>
      <p:ext uri="{BB962C8B-B14F-4D97-AF65-F5344CB8AC3E}">
        <p14:creationId xmlns:p14="http://schemas.microsoft.com/office/powerpoint/2010/main" val="1601146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821F1-0924-7B45-F194-950ECC3D861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701569D-B32D-9A41-FD0B-E75C1B18BA53}"/>
              </a:ext>
            </a:extLst>
          </p:cNvPr>
          <p:cNvSpPr>
            <a:spLocks noGrp="1"/>
          </p:cNvSpPr>
          <p:nvPr>
            <p:ph type="title"/>
          </p:nvPr>
        </p:nvSpPr>
        <p:spPr>
          <a:xfrm>
            <a:off x="444500" y="542925"/>
            <a:ext cx="11214100" cy="535531"/>
          </a:xfrm>
        </p:spPr>
        <p:txBody>
          <a:bodyPr/>
          <a:lstStyle/>
          <a:p>
            <a:r>
              <a:rPr lang="en-GB" dirty="0"/>
              <a:t>Limitations</a:t>
            </a:r>
            <a:endParaRPr lang="en-US" dirty="0"/>
          </a:p>
        </p:txBody>
      </p:sp>
      <p:sp>
        <p:nvSpPr>
          <p:cNvPr id="2" name="Slide Number Placeholder 1">
            <a:extLst>
              <a:ext uri="{FF2B5EF4-FFF2-40B4-BE49-F238E27FC236}">
                <a16:creationId xmlns:a16="http://schemas.microsoft.com/office/drawing/2014/main" id="{8C6DE0F5-FC73-7879-2437-E2E97080C71A}"/>
              </a:ext>
            </a:extLst>
          </p:cNvPr>
          <p:cNvSpPr>
            <a:spLocks noGrp="1"/>
          </p:cNvSpPr>
          <p:nvPr>
            <p:ph type="sldNum" sz="quarter" idx="12"/>
          </p:nvPr>
        </p:nvSpPr>
        <p:spPr/>
        <p:txBody>
          <a:bodyPr/>
          <a:lstStyle/>
          <a:p>
            <a:fld id="{C263D6C4-4840-40CC-AC84-17E24B3B7BDE}" type="slidenum">
              <a:rPr lang="en-US" smtClean="0"/>
              <a:pPr/>
              <a:t>25</a:t>
            </a:fld>
            <a:endParaRPr lang="en-US" dirty="0"/>
          </a:p>
        </p:txBody>
      </p:sp>
      <p:sp>
        <p:nvSpPr>
          <p:cNvPr id="6" name="TextBox 5">
            <a:extLst>
              <a:ext uri="{FF2B5EF4-FFF2-40B4-BE49-F238E27FC236}">
                <a16:creationId xmlns:a16="http://schemas.microsoft.com/office/drawing/2014/main" id="{668D140A-A6EB-C9FE-DDCF-12693E746EBD}"/>
              </a:ext>
            </a:extLst>
          </p:cNvPr>
          <p:cNvSpPr txBox="1"/>
          <p:nvPr/>
        </p:nvSpPr>
        <p:spPr>
          <a:xfrm>
            <a:off x="835742" y="1789470"/>
            <a:ext cx="8308258" cy="4832092"/>
          </a:xfrm>
          <a:prstGeom prst="rect">
            <a:avLst/>
          </a:prstGeom>
          <a:noFill/>
        </p:spPr>
        <p:txBody>
          <a:bodyPr wrap="square">
            <a:spAutoFit/>
          </a:bodyPr>
          <a:lstStyle/>
          <a:p>
            <a:pPr marL="457200" lvl="0" indent="-311150">
              <a:buClr>
                <a:srgbClr val="000000"/>
              </a:buClr>
              <a:buSzPts val="1300"/>
              <a:buFont typeface="Arial"/>
              <a:buChar char="●"/>
            </a:pPr>
            <a:r>
              <a:rPr lang="en-US" b="1" dirty="0">
                <a:solidFill>
                  <a:schemeClr val="bg1"/>
                </a:solidFill>
                <a:ea typeface="Arial"/>
                <a:cs typeface="Arial"/>
                <a:sym typeface="Arial"/>
              </a:rPr>
              <a:t>Lighting Dependency:   </a:t>
            </a:r>
            <a:r>
              <a:rPr lang="en-US" dirty="0">
                <a:solidFill>
                  <a:schemeClr val="bg1"/>
                </a:solidFill>
                <a:ea typeface="Arial"/>
                <a:cs typeface="Arial"/>
                <a:sym typeface="Arial"/>
              </a:rPr>
              <a:t>Camera-based detection may not work well in low-light or night conditions</a:t>
            </a:r>
            <a:br>
              <a:rPr lang="en-US" dirty="0">
                <a:solidFill>
                  <a:schemeClr val="bg1"/>
                </a:solidFill>
                <a:ea typeface="Arial"/>
                <a:cs typeface="Arial"/>
                <a:sym typeface="Arial"/>
              </a:rPr>
            </a:br>
            <a:endParaRPr lang="en-US" dirty="0">
              <a:solidFill>
                <a:schemeClr val="bg1"/>
              </a:solidFill>
              <a:ea typeface="Arial"/>
              <a:cs typeface="Arial"/>
              <a:sym typeface="Arial"/>
            </a:endParaRPr>
          </a:p>
          <a:p>
            <a:pPr marL="457200" lvl="0" indent="-311150">
              <a:buClr>
                <a:srgbClr val="000000"/>
              </a:buClr>
              <a:buSzPts val="1300"/>
              <a:buFont typeface="Arial"/>
              <a:buChar char="●"/>
            </a:pPr>
            <a:r>
              <a:rPr lang="en-US" b="1" dirty="0">
                <a:solidFill>
                  <a:schemeClr val="bg1"/>
                </a:solidFill>
                <a:ea typeface="Arial"/>
                <a:cs typeface="Arial"/>
                <a:sym typeface="Arial"/>
              </a:rPr>
              <a:t>False Positives / Negatives:    </a:t>
            </a:r>
            <a:r>
              <a:rPr lang="en-US" dirty="0">
                <a:solidFill>
                  <a:schemeClr val="bg1"/>
                </a:solidFill>
                <a:ea typeface="Arial"/>
                <a:cs typeface="Arial"/>
                <a:sym typeface="Arial"/>
              </a:rPr>
              <a:t>The system using </a:t>
            </a:r>
            <a:r>
              <a:rPr lang="en-US" dirty="0" err="1">
                <a:solidFill>
                  <a:schemeClr val="bg1"/>
                </a:solidFill>
                <a:ea typeface="Arial"/>
                <a:cs typeface="Arial"/>
                <a:sym typeface="Arial"/>
              </a:rPr>
              <a:t>Ultralytics</a:t>
            </a:r>
            <a:r>
              <a:rPr lang="en-US" dirty="0">
                <a:solidFill>
                  <a:schemeClr val="bg1"/>
                </a:solidFill>
                <a:ea typeface="Arial"/>
                <a:cs typeface="Arial"/>
                <a:sym typeface="Arial"/>
              </a:rPr>
              <a:t> YOLO may sometimes misclassify activities </a:t>
            </a:r>
          </a:p>
          <a:p>
            <a:pPr marL="457200" lvl="0">
              <a:spcBef>
                <a:spcPts val="1200"/>
              </a:spcBef>
            </a:pPr>
            <a:r>
              <a:rPr lang="en-US" dirty="0">
                <a:solidFill>
                  <a:schemeClr val="bg1"/>
                </a:solidFill>
                <a:ea typeface="Arial"/>
                <a:cs typeface="Arial"/>
                <a:sym typeface="Arial"/>
              </a:rPr>
              <a:t>(e.g., sitting vs falling)</a:t>
            </a:r>
          </a:p>
          <a:p>
            <a:pPr marL="457200" lvl="0" indent="-311150">
              <a:spcBef>
                <a:spcPts val="1200"/>
              </a:spcBef>
              <a:buClr>
                <a:srgbClr val="000000"/>
              </a:buClr>
              <a:buSzPts val="1300"/>
              <a:buFont typeface="Arial"/>
              <a:buChar char="●"/>
            </a:pPr>
            <a:r>
              <a:rPr lang="en-US" b="1" dirty="0">
                <a:solidFill>
                  <a:schemeClr val="bg1"/>
                </a:solidFill>
                <a:ea typeface="Arial"/>
                <a:cs typeface="Arial"/>
                <a:sym typeface="Arial"/>
              </a:rPr>
              <a:t>Camera Coverage Limitation:   </a:t>
            </a:r>
            <a:r>
              <a:rPr lang="en-US" dirty="0">
                <a:solidFill>
                  <a:schemeClr val="bg1"/>
                </a:solidFill>
                <a:ea typeface="Arial"/>
                <a:cs typeface="Arial"/>
                <a:sym typeface="Arial"/>
              </a:rPr>
              <a:t>Falls outside the camera’s field of view cannot be detected</a:t>
            </a:r>
            <a:br>
              <a:rPr lang="en-US" dirty="0">
                <a:solidFill>
                  <a:schemeClr val="bg1"/>
                </a:solidFill>
                <a:ea typeface="Arial"/>
                <a:cs typeface="Arial"/>
                <a:sym typeface="Arial"/>
              </a:rPr>
            </a:br>
            <a:endParaRPr lang="en-US" dirty="0">
              <a:solidFill>
                <a:schemeClr val="bg1"/>
              </a:solidFill>
              <a:ea typeface="Arial"/>
              <a:cs typeface="Arial"/>
              <a:sym typeface="Arial"/>
            </a:endParaRPr>
          </a:p>
          <a:p>
            <a:pPr marL="457200" lvl="0" indent="-311150">
              <a:buClr>
                <a:srgbClr val="000000"/>
              </a:buClr>
              <a:buSzPts val="1300"/>
              <a:buFont typeface="Arial"/>
              <a:buChar char="●"/>
            </a:pPr>
            <a:r>
              <a:rPr lang="en-US" b="1" dirty="0">
                <a:solidFill>
                  <a:schemeClr val="bg1"/>
                </a:solidFill>
                <a:ea typeface="Arial"/>
                <a:cs typeface="Arial"/>
                <a:sym typeface="Arial"/>
              </a:rPr>
              <a:t>Internet Dependency:   </a:t>
            </a:r>
            <a:r>
              <a:rPr lang="en-US" dirty="0">
                <a:solidFill>
                  <a:schemeClr val="bg1"/>
                </a:solidFill>
                <a:ea typeface="Arial"/>
                <a:cs typeface="Arial"/>
                <a:sym typeface="Arial"/>
              </a:rPr>
              <a:t>IoT alerts via ESP32 require stable Wi-Fi connection</a:t>
            </a:r>
            <a:br>
              <a:rPr lang="en-US" dirty="0">
                <a:solidFill>
                  <a:schemeClr val="bg1"/>
                </a:solidFill>
                <a:ea typeface="Arial"/>
                <a:cs typeface="Arial"/>
                <a:sym typeface="Arial"/>
              </a:rPr>
            </a:br>
            <a:endParaRPr lang="en-US" dirty="0">
              <a:solidFill>
                <a:schemeClr val="bg1"/>
              </a:solidFill>
              <a:ea typeface="Arial"/>
              <a:cs typeface="Arial"/>
              <a:sym typeface="Arial"/>
            </a:endParaRPr>
          </a:p>
          <a:p>
            <a:pPr marL="457200" lvl="0" indent="-311150">
              <a:buClr>
                <a:srgbClr val="000000"/>
              </a:buClr>
              <a:buSzPts val="1300"/>
              <a:buFont typeface="Arial"/>
              <a:buChar char="●"/>
            </a:pPr>
            <a:r>
              <a:rPr lang="en-US" b="1" dirty="0">
                <a:solidFill>
                  <a:schemeClr val="bg1"/>
                </a:solidFill>
                <a:ea typeface="Arial"/>
                <a:cs typeface="Arial"/>
                <a:sym typeface="Arial"/>
              </a:rPr>
              <a:t>Privacy Concerns:   </a:t>
            </a:r>
            <a:r>
              <a:rPr lang="en-US" dirty="0">
                <a:solidFill>
                  <a:schemeClr val="bg1"/>
                </a:solidFill>
                <a:ea typeface="Arial"/>
                <a:cs typeface="Arial"/>
                <a:sym typeface="Arial"/>
              </a:rPr>
              <a:t>Continuous video monitoring may raise privacy issues</a:t>
            </a:r>
            <a:br>
              <a:rPr lang="en-US" dirty="0">
                <a:solidFill>
                  <a:schemeClr val="bg1"/>
                </a:solidFill>
                <a:ea typeface="Arial"/>
                <a:cs typeface="Arial"/>
                <a:sym typeface="Arial"/>
              </a:rPr>
            </a:br>
            <a:endParaRPr lang="en-US" dirty="0">
              <a:solidFill>
                <a:schemeClr val="bg1"/>
              </a:solidFill>
              <a:ea typeface="Arial"/>
              <a:cs typeface="Arial"/>
              <a:sym typeface="Arial"/>
            </a:endParaRPr>
          </a:p>
          <a:p>
            <a:pPr marL="457200" lvl="0" indent="-311150">
              <a:buClr>
                <a:srgbClr val="000000"/>
              </a:buClr>
              <a:buSzPts val="1300"/>
              <a:buFont typeface="Arial"/>
              <a:buChar char="●"/>
            </a:pPr>
            <a:r>
              <a:rPr lang="en-US" b="1" dirty="0">
                <a:solidFill>
                  <a:schemeClr val="bg1"/>
                </a:solidFill>
                <a:ea typeface="Arial"/>
                <a:cs typeface="Arial"/>
                <a:sym typeface="Arial"/>
              </a:rPr>
              <a:t>Hardware Constraints:   </a:t>
            </a:r>
            <a:r>
              <a:rPr lang="en-US" dirty="0">
                <a:solidFill>
                  <a:schemeClr val="bg1"/>
                </a:solidFill>
                <a:ea typeface="Arial"/>
                <a:cs typeface="Arial"/>
                <a:sym typeface="Arial"/>
              </a:rPr>
              <a:t> Limited processing power of IoT devices may affect performance</a:t>
            </a:r>
            <a:endParaRPr lang="en-US" sz="2800" dirty="0">
              <a:solidFill>
                <a:schemeClr val="bg1"/>
              </a:solidFill>
            </a:endParaRPr>
          </a:p>
        </p:txBody>
      </p:sp>
    </p:spTree>
    <p:extLst>
      <p:ext uri="{BB962C8B-B14F-4D97-AF65-F5344CB8AC3E}">
        <p14:creationId xmlns:p14="http://schemas.microsoft.com/office/powerpoint/2010/main" val="194099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DCA66-990E-0748-BF77-E97E78E2BA1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B80D60B-6C14-8832-555D-18C0BA28ACCF}"/>
              </a:ext>
            </a:extLst>
          </p:cNvPr>
          <p:cNvSpPr>
            <a:spLocks noGrp="1"/>
          </p:cNvSpPr>
          <p:nvPr>
            <p:ph type="title"/>
          </p:nvPr>
        </p:nvSpPr>
        <p:spPr>
          <a:xfrm>
            <a:off x="444500" y="542925"/>
            <a:ext cx="11214100" cy="535531"/>
          </a:xfrm>
        </p:spPr>
        <p:txBody>
          <a:bodyPr/>
          <a:lstStyle/>
          <a:p>
            <a:r>
              <a:rPr lang="en-GB" dirty="0"/>
              <a:t>Applications</a:t>
            </a:r>
            <a:endParaRPr lang="en-US" dirty="0"/>
          </a:p>
        </p:txBody>
      </p:sp>
      <p:sp>
        <p:nvSpPr>
          <p:cNvPr id="2" name="Slide Number Placeholder 1">
            <a:extLst>
              <a:ext uri="{FF2B5EF4-FFF2-40B4-BE49-F238E27FC236}">
                <a16:creationId xmlns:a16="http://schemas.microsoft.com/office/drawing/2014/main" id="{8FE16EF7-0C92-F47E-CB55-8397BE42FDB1}"/>
              </a:ext>
            </a:extLst>
          </p:cNvPr>
          <p:cNvSpPr>
            <a:spLocks noGrp="1"/>
          </p:cNvSpPr>
          <p:nvPr>
            <p:ph type="sldNum" sz="quarter" idx="12"/>
          </p:nvPr>
        </p:nvSpPr>
        <p:spPr/>
        <p:txBody>
          <a:bodyPr/>
          <a:lstStyle/>
          <a:p>
            <a:fld id="{C263D6C4-4840-40CC-AC84-17E24B3B7BDE}" type="slidenum">
              <a:rPr lang="en-US" smtClean="0"/>
              <a:pPr/>
              <a:t>26</a:t>
            </a:fld>
            <a:endParaRPr lang="en-US" dirty="0"/>
          </a:p>
        </p:txBody>
      </p:sp>
      <p:sp>
        <p:nvSpPr>
          <p:cNvPr id="6" name="TextBox 5">
            <a:extLst>
              <a:ext uri="{FF2B5EF4-FFF2-40B4-BE49-F238E27FC236}">
                <a16:creationId xmlns:a16="http://schemas.microsoft.com/office/drawing/2014/main" id="{8B81F388-07D0-1622-36A2-0BDF1522F37F}"/>
              </a:ext>
            </a:extLst>
          </p:cNvPr>
          <p:cNvSpPr txBox="1"/>
          <p:nvPr/>
        </p:nvSpPr>
        <p:spPr>
          <a:xfrm>
            <a:off x="533400" y="1298445"/>
            <a:ext cx="8308258" cy="5016630"/>
          </a:xfrm>
          <a:prstGeom prst="rect">
            <a:avLst/>
          </a:prstGeom>
          <a:noFill/>
        </p:spPr>
        <p:txBody>
          <a:bodyPr wrap="square">
            <a:spAutoFit/>
          </a:bodyPr>
          <a:lstStyle/>
          <a:p>
            <a:pPr marL="457200" lvl="0" indent="-317500">
              <a:lnSpc>
                <a:spcPct val="105000"/>
              </a:lnSpc>
              <a:buClr>
                <a:srgbClr val="000000"/>
              </a:buClr>
              <a:buSzPts val="1400"/>
              <a:buFont typeface="Arial"/>
              <a:buChar char="●"/>
            </a:pPr>
            <a:r>
              <a:rPr lang="en-US" b="1" dirty="0">
                <a:solidFill>
                  <a:schemeClr val="bg1"/>
                </a:solidFill>
                <a:ea typeface="Arial"/>
                <a:cs typeface="Arial"/>
                <a:sym typeface="Arial"/>
              </a:rPr>
              <a:t>Elderly Care Homes:   </a:t>
            </a:r>
            <a:r>
              <a:rPr lang="en-US" dirty="0">
                <a:solidFill>
                  <a:schemeClr val="bg1"/>
                </a:solidFill>
                <a:ea typeface="Arial"/>
                <a:cs typeface="Arial"/>
                <a:sym typeface="Arial"/>
              </a:rPr>
              <a:t>Monitors senior citizens and provides immediate assistance during falls</a:t>
            </a:r>
            <a:br>
              <a:rPr lang="en-US" dirty="0">
                <a:solidFill>
                  <a:schemeClr val="bg1"/>
                </a:solidFill>
                <a:ea typeface="Arial"/>
                <a:cs typeface="Arial"/>
                <a:sym typeface="Arial"/>
              </a:rPr>
            </a:br>
            <a:endParaRPr lang="en-US" dirty="0">
              <a:solidFill>
                <a:schemeClr val="bg1"/>
              </a:solidFill>
              <a:ea typeface="Arial"/>
              <a:cs typeface="Arial"/>
              <a:sym typeface="Arial"/>
            </a:endParaRPr>
          </a:p>
          <a:p>
            <a:pPr marL="457200" lvl="0" indent="-317500">
              <a:lnSpc>
                <a:spcPct val="105000"/>
              </a:lnSpc>
              <a:buClr>
                <a:srgbClr val="000000"/>
              </a:buClr>
              <a:buSzPts val="1400"/>
              <a:buFont typeface="Arial"/>
              <a:buChar char="●"/>
            </a:pPr>
            <a:r>
              <a:rPr lang="en-US" b="1" dirty="0">
                <a:solidFill>
                  <a:schemeClr val="bg1"/>
                </a:solidFill>
                <a:ea typeface="Arial"/>
                <a:cs typeface="Arial"/>
                <a:sym typeface="Arial"/>
              </a:rPr>
              <a:t>Hospitals and Healthcare Centers:  </a:t>
            </a:r>
            <a:r>
              <a:rPr lang="en-US" dirty="0">
                <a:solidFill>
                  <a:schemeClr val="bg1"/>
                </a:solidFill>
                <a:ea typeface="Arial"/>
                <a:cs typeface="Arial"/>
                <a:sym typeface="Arial"/>
              </a:rPr>
              <a:t>Helps in continuous patient monitoring and emergency response</a:t>
            </a:r>
            <a:br>
              <a:rPr lang="en-US" dirty="0">
                <a:solidFill>
                  <a:schemeClr val="bg1"/>
                </a:solidFill>
                <a:ea typeface="Arial"/>
                <a:cs typeface="Arial"/>
                <a:sym typeface="Arial"/>
              </a:rPr>
            </a:br>
            <a:endParaRPr lang="en-US" dirty="0">
              <a:solidFill>
                <a:schemeClr val="bg1"/>
              </a:solidFill>
              <a:ea typeface="Arial"/>
              <a:cs typeface="Arial"/>
              <a:sym typeface="Arial"/>
            </a:endParaRPr>
          </a:p>
          <a:p>
            <a:pPr marL="457200" lvl="0" indent="-317500">
              <a:lnSpc>
                <a:spcPct val="105000"/>
              </a:lnSpc>
              <a:buClr>
                <a:srgbClr val="000000"/>
              </a:buClr>
              <a:buSzPts val="1400"/>
              <a:buFont typeface="Arial"/>
              <a:buChar char="●"/>
            </a:pPr>
            <a:r>
              <a:rPr lang="en-US" b="1" dirty="0">
                <a:solidFill>
                  <a:schemeClr val="bg1"/>
                </a:solidFill>
                <a:ea typeface="Arial"/>
                <a:cs typeface="Arial"/>
                <a:sym typeface="Arial"/>
              </a:rPr>
              <a:t>Smart Homes:  </a:t>
            </a:r>
            <a:r>
              <a:rPr lang="en-US" dirty="0">
                <a:solidFill>
                  <a:schemeClr val="bg1"/>
                </a:solidFill>
                <a:ea typeface="Arial"/>
                <a:cs typeface="Arial"/>
                <a:sym typeface="Arial"/>
              </a:rPr>
              <a:t>Enhances safety by integrating with home automation systems</a:t>
            </a:r>
            <a:br>
              <a:rPr lang="en-US" dirty="0">
                <a:solidFill>
                  <a:schemeClr val="bg1"/>
                </a:solidFill>
                <a:ea typeface="Arial"/>
                <a:cs typeface="Arial"/>
                <a:sym typeface="Arial"/>
              </a:rPr>
            </a:br>
            <a:endParaRPr lang="en-US" dirty="0">
              <a:solidFill>
                <a:schemeClr val="bg1"/>
              </a:solidFill>
              <a:ea typeface="Arial"/>
              <a:cs typeface="Arial"/>
              <a:sym typeface="Arial"/>
            </a:endParaRPr>
          </a:p>
          <a:p>
            <a:pPr marL="457200" lvl="0" indent="-317500">
              <a:lnSpc>
                <a:spcPct val="105000"/>
              </a:lnSpc>
              <a:buClr>
                <a:srgbClr val="000000"/>
              </a:buClr>
              <a:buSzPts val="1400"/>
              <a:buFont typeface="Arial"/>
              <a:buChar char="●"/>
            </a:pPr>
            <a:r>
              <a:rPr lang="en-US" b="1" dirty="0">
                <a:solidFill>
                  <a:schemeClr val="bg1"/>
                </a:solidFill>
                <a:ea typeface="Arial"/>
                <a:cs typeface="Arial"/>
                <a:sym typeface="Arial"/>
              </a:rPr>
              <a:t>Rehabilitation Centers:   </a:t>
            </a:r>
            <a:r>
              <a:rPr lang="en-US" dirty="0">
                <a:solidFill>
                  <a:schemeClr val="bg1"/>
                </a:solidFill>
                <a:ea typeface="Arial"/>
                <a:cs typeface="Arial"/>
                <a:sym typeface="Arial"/>
              </a:rPr>
              <a:t>Tracks patient movements during recovery and therapy</a:t>
            </a:r>
            <a:br>
              <a:rPr lang="en-US" dirty="0">
                <a:solidFill>
                  <a:schemeClr val="bg1"/>
                </a:solidFill>
                <a:ea typeface="Arial"/>
                <a:cs typeface="Arial"/>
                <a:sym typeface="Arial"/>
              </a:rPr>
            </a:br>
            <a:endParaRPr lang="en-US" dirty="0">
              <a:solidFill>
                <a:schemeClr val="bg1"/>
              </a:solidFill>
              <a:ea typeface="Arial"/>
              <a:cs typeface="Arial"/>
              <a:sym typeface="Arial"/>
            </a:endParaRPr>
          </a:p>
          <a:p>
            <a:pPr marL="457200" lvl="0" indent="-317500">
              <a:lnSpc>
                <a:spcPct val="105000"/>
              </a:lnSpc>
              <a:buClr>
                <a:srgbClr val="000000"/>
              </a:buClr>
              <a:buSzPts val="1400"/>
              <a:buFont typeface="Arial"/>
              <a:buChar char="●"/>
            </a:pPr>
            <a:r>
              <a:rPr lang="en-US" b="1" dirty="0">
                <a:solidFill>
                  <a:schemeClr val="bg1"/>
                </a:solidFill>
                <a:ea typeface="Arial"/>
                <a:cs typeface="Arial"/>
                <a:sym typeface="Arial"/>
              </a:rPr>
              <a:t>Assisted Living </a:t>
            </a:r>
            <a:r>
              <a:rPr lang="en-US" b="1" dirty="0" err="1">
                <a:solidFill>
                  <a:schemeClr val="bg1"/>
                </a:solidFill>
                <a:ea typeface="Arial"/>
                <a:cs typeface="Arial"/>
                <a:sym typeface="Arial"/>
              </a:rPr>
              <a:t>Facilitie</a:t>
            </a:r>
            <a:r>
              <a:rPr lang="en-US" b="1" dirty="0">
                <a:solidFill>
                  <a:schemeClr val="bg1"/>
                </a:solidFill>
                <a:ea typeface="Arial"/>
                <a:cs typeface="Arial"/>
                <a:sym typeface="Arial"/>
              </a:rPr>
              <a:t>:    </a:t>
            </a:r>
            <a:r>
              <a:rPr lang="en-US" dirty="0">
                <a:solidFill>
                  <a:schemeClr val="bg1"/>
                </a:solidFill>
                <a:ea typeface="Arial"/>
                <a:cs typeface="Arial"/>
                <a:sym typeface="Arial"/>
              </a:rPr>
              <a:t> Supports individuals with disabilities or mobility issues</a:t>
            </a:r>
            <a:br>
              <a:rPr lang="en-US" dirty="0">
                <a:solidFill>
                  <a:schemeClr val="bg1"/>
                </a:solidFill>
                <a:ea typeface="Arial"/>
                <a:cs typeface="Arial"/>
                <a:sym typeface="Arial"/>
              </a:rPr>
            </a:br>
            <a:endParaRPr lang="en-US" dirty="0">
              <a:solidFill>
                <a:schemeClr val="bg1"/>
              </a:solidFill>
              <a:ea typeface="Arial"/>
              <a:cs typeface="Arial"/>
              <a:sym typeface="Arial"/>
            </a:endParaRPr>
          </a:p>
          <a:p>
            <a:pPr marL="457200" lvl="0" indent="-317500">
              <a:lnSpc>
                <a:spcPct val="105000"/>
              </a:lnSpc>
              <a:buClr>
                <a:srgbClr val="000000"/>
              </a:buClr>
              <a:buSzPts val="1400"/>
              <a:buFont typeface="Arial"/>
              <a:buChar char="●"/>
            </a:pPr>
            <a:r>
              <a:rPr lang="en-US" b="1" dirty="0">
                <a:solidFill>
                  <a:schemeClr val="bg1"/>
                </a:solidFill>
                <a:ea typeface="Arial"/>
                <a:cs typeface="Arial"/>
                <a:sym typeface="Arial"/>
              </a:rPr>
              <a:t>Home Care for Patients:   </a:t>
            </a:r>
            <a:r>
              <a:rPr lang="en-US" dirty="0">
                <a:solidFill>
                  <a:schemeClr val="bg1"/>
                </a:solidFill>
                <a:ea typeface="Arial"/>
                <a:cs typeface="Arial"/>
                <a:sym typeface="Arial"/>
              </a:rPr>
              <a:t>Useful for people living alone who need constant monitoring</a:t>
            </a:r>
            <a:endParaRPr lang="en-US" sz="3200" dirty="0">
              <a:solidFill>
                <a:schemeClr val="bg1"/>
              </a:solidFill>
            </a:endParaRPr>
          </a:p>
        </p:txBody>
      </p:sp>
    </p:spTree>
    <p:extLst>
      <p:ext uri="{BB962C8B-B14F-4D97-AF65-F5344CB8AC3E}">
        <p14:creationId xmlns:p14="http://schemas.microsoft.com/office/powerpoint/2010/main" val="1543767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4467A-B7AE-FD27-162F-2680B5287FF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41E6C0-1D4B-ACA5-A5B9-594B2A291FC3}"/>
              </a:ext>
            </a:extLst>
          </p:cNvPr>
          <p:cNvSpPr>
            <a:spLocks noGrp="1"/>
          </p:cNvSpPr>
          <p:nvPr>
            <p:ph type="title"/>
          </p:nvPr>
        </p:nvSpPr>
        <p:spPr>
          <a:xfrm>
            <a:off x="444500" y="542925"/>
            <a:ext cx="11214100" cy="535531"/>
          </a:xfrm>
        </p:spPr>
        <p:txBody>
          <a:bodyPr/>
          <a:lstStyle/>
          <a:p>
            <a:r>
              <a:rPr lang="en-GB" dirty="0"/>
              <a:t>Future Enhancements</a:t>
            </a:r>
            <a:endParaRPr lang="en-US" dirty="0"/>
          </a:p>
        </p:txBody>
      </p:sp>
      <p:sp>
        <p:nvSpPr>
          <p:cNvPr id="2" name="Slide Number Placeholder 1">
            <a:extLst>
              <a:ext uri="{FF2B5EF4-FFF2-40B4-BE49-F238E27FC236}">
                <a16:creationId xmlns:a16="http://schemas.microsoft.com/office/drawing/2014/main" id="{CBB54417-79FE-E63D-E73E-A032FFF425B7}"/>
              </a:ext>
            </a:extLst>
          </p:cNvPr>
          <p:cNvSpPr>
            <a:spLocks noGrp="1"/>
          </p:cNvSpPr>
          <p:nvPr>
            <p:ph type="sldNum" sz="quarter" idx="12"/>
          </p:nvPr>
        </p:nvSpPr>
        <p:spPr/>
        <p:txBody>
          <a:bodyPr/>
          <a:lstStyle/>
          <a:p>
            <a:fld id="{C263D6C4-4840-40CC-AC84-17E24B3B7BDE}" type="slidenum">
              <a:rPr lang="en-US" smtClean="0"/>
              <a:pPr/>
              <a:t>27</a:t>
            </a:fld>
            <a:endParaRPr lang="en-US" dirty="0"/>
          </a:p>
        </p:txBody>
      </p:sp>
      <p:sp>
        <p:nvSpPr>
          <p:cNvPr id="6" name="TextBox 5">
            <a:extLst>
              <a:ext uri="{FF2B5EF4-FFF2-40B4-BE49-F238E27FC236}">
                <a16:creationId xmlns:a16="http://schemas.microsoft.com/office/drawing/2014/main" id="{13C31609-D6D0-AD82-C8E7-8473E54F7297}"/>
              </a:ext>
            </a:extLst>
          </p:cNvPr>
          <p:cNvSpPr txBox="1"/>
          <p:nvPr/>
        </p:nvSpPr>
        <p:spPr>
          <a:xfrm>
            <a:off x="796413" y="1486061"/>
            <a:ext cx="8308258" cy="4829014"/>
          </a:xfrm>
          <a:prstGeom prst="rect">
            <a:avLst/>
          </a:prstGeom>
          <a:noFill/>
        </p:spPr>
        <p:txBody>
          <a:bodyPr wrap="square">
            <a:spAutoFit/>
          </a:bodyPr>
          <a:lstStyle/>
          <a:p>
            <a:pPr marL="457200" lvl="0" indent="-318611">
              <a:lnSpc>
                <a:spcPct val="95000"/>
              </a:lnSpc>
              <a:buClr>
                <a:srgbClr val="000000"/>
              </a:buClr>
              <a:buSzPts val="1418"/>
              <a:buFont typeface="Arial"/>
              <a:buChar char="●"/>
            </a:pPr>
            <a:r>
              <a:rPr lang="en-GB" b="1" dirty="0">
                <a:solidFill>
                  <a:schemeClr val="bg1"/>
                </a:solidFill>
                <a:ea typeface="Arial"/>
                <a:cs typeface="Arial"/>
                <a:sym typeface="Arial"/>
              </a:rPr>
              <a:t>Mobile Application Integration:   </a:t>
            </a:r>
            <a:r>
              <a:rPr lang="en-GB" dirty="0">
                <a:solidFill>
                  <a:schemeClr val="bg1"/>
                </a:solidFill>
                <a:ea typeface="Arial"/>
                <a:cs typeface="Arial"/>
                <a:sym typeface="Arial"/>
              </a:rPr>
              <a:t>Develop a mobile app for real-time alerts and monitoring</a:t>
            </a:r>
            <a:br>
              <a:rPr lang="en-GB" dirty="0">
                <a:solidFill>
                  <a:schemeClr val="bg1"/>
                </a:solidFill>
                <a:ea typeface="Arial"/>
                <a:cs typeface="Arial"/>
                <a:sym typeface="Arial"/>
              </a:rPr>
            </a:br>
            <a:endParaRPr lang="en-GB" dirty="0">
              <a:solidFill>
                <a:schemeClr val="bg1"/>
              </a:solidFill>
              <a:ea typeface="Arial"/>
              <a:cs typeface="Arial"/>
              <a:sym typeface="Arial"/>
            </a:endParaRPr>
          </a:p>
          <a:p>
            <a:pPr marL="457200" lvl="0" indent="-318611">
              <a:lnSpc>
                <a:spcPct val="95000"/>
              </a:lnSpc>
              <a:buClr>
                <a:srgbClr val="000000"/>
              </a:buClr>
              <a:buSzPts val="1418"/>
              <a:buFont typeface="Arial"/>
              <a:buChar char="●"/>
            </a:pPr>
            <a:r>
              <a:rPr lang="en-GB" b="1" dirty="0">
                <a:solidFill>
                  <a:schemeClr val="bg1"/>
                </a:solidFill>
                <a:ea typeface="Arial"/>
                <a:cs typeface="Arial"/>
                <a:sym typeface="Arial"/>
              </a:rPr>
              <a:t>Night Vision Capability:  </a:t>
            </a:r>
            <a:r>
              <a:rPr lang="en-GB" dirty="0">
                <a:solidFill>
                  <a:schemeClr val="bg1"/>
                </a:solidFill>
                <a:ea typeface="Arial"/>
                <a:cs typeface="Arial"/>
                <a:sym typeface="Arial"/>
              </a:rPr>
              <a:t>Improve performance in low-light conditions using infrared cameras</a:t>
            </a:r>
            <a:br>
              <a:rPr lang="en-GB" dirty="0">
                <a:solidFill>
                  <a:schemeClr val="bg1"/>
                </a:solidFill>
                <a:ea typeface="Arial"/>
                <a:cs typeface="Arial"/>
                <a:sym typeface="Arial"/>
              </a:rPr>
            </a:br>
            <a:endParaRPr lang="en-GB" dirty="0">
              <a:solidFill>
                <a:schemeClr val="bg1"/>
              </a:solidFill>
              <a:ea typeface="Arial"/>
              <a:cs typeface="Arial"/>
              <a:sym typeface="Arial"/>
            </a:endParaRPr>
          </a:p>
          <a:p>
            <a:pPr marL="457200" lvl="0" indent="-318611">
              <a:lnSpc>
                <a:spcPct val="95000"/>
              </a:lnSpc>
              <a:buClr>
                <a:srgbClr val="000000"/>
              </a:buClr>
              <a:buSzPts val="1418"/>
              <a:buFont typeface="Arial"/>
              <a:buChar char="●"/>
            </a:pPr>
            <a:r>
              <a:rPr lang="en-GB" b="1" dirty="0">
                <a:solidFill>
                  <a:schemeClr val="bg1"/>
                </a:solidFill>
                <a:ea typeface="Arial"/>
                <a:cs typeface="Arial"/>
                <a:sym typeface="Arial"/>
              </a:rPr>
              <a:t>Voice Alert System:   </a:t>
            </a:r>
            <a:r>
              <a:rPr lang="en-GB" dirty="0">
                <a:solidFill>
                  <a:schemeClr val="bg1"/>
                </a:solidFill>
                <a:ea typeface="Arial"/>
                <a:cs typeface="Arial"/>
                <a:sym typeface="Arial"/>
              </a:rPr>
              <a:t>Add audio alerts or emergency voice assistance</a:t>
            </a:r>
            <a:br>
              <a:rPr lang="en-GB" dirty="0">
                <a:solidFill>
                  <a:schemeClr val="bg1"/>
                </a:solidFill>
                <a:ea typeface="Arial"/>
                <a:cs typeface="Arial"/>
                <a:sym typeface="Arial"/>
              </a:rPr>
            </a:br>
            <a:endParaRPr lang="en-GB" dirty="0">
              <a:solidFill>
                <a:schemeClr val="bg1"/>
              </a:solidFill>
              <a:ea typeface="Arial"/>
              <a:cs typeface="Arial"/>
              <a:sym typeface="Arial"/>
            </a:endParaRPr>
          </a:p>
          <a:p>
            <a:pPr marL="457200" lvl="0" indent="-318611">
              <a:lnSpc>
                <a:spcPct val="95000"/>
              </a:lnSpc>
              <a:buClr>
                <a:srgbClr val="000000"/>
              </a:buClr>
              <a:buSzPts val="1418"/>
              <a:buFont typeface="Arial"/>
              <a:buChar char="●"/>
            </a:pPr>
            <a:r>
              <a:rPr lang="en-GB" b="1" dirty="0">
                <a:solidFill>
                  <a:schemeClr val="bg1"/>
                </a:solidFill>
                <a:ea typeface="Arial"/>
                <a:cs typeface="Arial"/>
                <a:sym typeface="Arial"/>
              </a:rPr>
              <a:t>GPS Tracking:   </a:t>
            </a:r>
            <a:r>
              <a:rPr lang="en-GB" dirty="0">
                <a:solidFill>
                  <a:schemeClr val="bg1"/>
                </a:solidFill>
                <a:ea typeface="Arial"/>
                <a:cs typeface="Arial"/>
                <a:sym typeface="Arial"/>
              </a:rPr>
              <a:t>Track the location of the person during emergencies</a:t>
            </a:r>
            <a:br>
              <a:rPr lang="en-GB" dirty="0">
                <a:solidFill>
                  <a:schemeClr val="bg1"/>
                </a:solidFill>
                <a:ea typeface="Arial"/>
                <a:cs typeface="Arial"/>
                <a:sym typeface="Arial"/>
              </a:rPr>
            </a:br>
            <a:endParaRPr lang="en-GB" dirty="0">
              <a:solidFill>
                <a:schemeClr val="bg1"/>
              </a:solidFill>
              <a:ea typeface="Arial"/>
              <a:cs typeface="Arial"/>
              <a:sym typeface="Arial"/>
            </a:endParaRPr>
          </a:p>
          <a:p>
            <a:pPr marL="457200" lvl="0" indent="-318611">
              <a:lnSpc>
                <a:spcPct val="95000"/>
              </a:lnSpc>
              <a:buClr>
                <a:srgbClr val="000000"/>
              </a:buClr>
              <a:buSzPts val="1418"/>
              <a:buFont typeface="Arial"/>
              <a:buChar char="●"/>
            </a:pPr>
            <a:r>
              <a:rPr lang="en-GB" b="1" dirty="0">
                <a:solidFill>
                  <a:schemeClr val="bg1"/>
                </a:solidFill>
                <a:ea typeface="Arial"/>
                <a:cs typeface="Arial"/>
                <a:sym typeface="Arial"/>
              </a:rPr>
              <a:t>Cloud Integration:   </a:t>
            </a:r>
            <a:r>
              <a:rPr lang="en-GB" dirty="0">
                <a:solidFill>
                  <a:schemeClr val="bg1"/>
                </a:solidFill>
                <a:ea typeface="Arial"/>
                <a:cs typeface="Arial"/>
                <a:sym typeface="Arial"/>
              </a:rPr>
              <a:t>Store data and alerts on cloud platforms for remote access</a:t>
            </a:r>
            <a:br>
              <a:rPr lang="en-GB" dirty="0">
                <a:solidFill>
                  <a:schemeClr val="bg1"/>
                </a:solidFill>
                <a:ea typeface="Arial"/>
                <a:cs typeface="Arial"/>
                <a:sym typeface="Arial"/>
              </a:rPr>
            </a:br>
            <a:endParaRPr lang="en-GB" dirty="0">
              <a:solidFill>
                <a:schemeClr val="bg1"/>
              </a:solidFill>
              <a:ea typeface="Arial"/>
              <a:cs typeface="Arial"/>
              <a:sym typeface="Arial"/>
            </a:endParaRPr>
          </a:p>
          <a:p>
            <a:pPr marL="457200" lvl="0" indent="-318611">
              <a:lnSpc>
                <a:spcPct val="95000"/>
              </a:lnSpc>
              <a:buClr>
                <a:srgbClr val="000000"/>
              </a:buClr>
              <a:buSzPts val="1418"/>
              <a:buFont typeface="Arial"/>
              <a:buChar char="●"/>
            </a:pPr>
            <a:r>
              <a:rPr lang="en-GB" b="1" dirty="0">
                <a:solidFill>
                  <a:schemeClr val="bg1"/>
                </a:solidFill>
                <a:ea typeface="Arial"/>
                <a:cs typeface="Arial"/>
                <a:sym typeface="Arial"/>
              </a:rPr>
              <a:t>Improved AI Accuracy:   </a:t>
            </a:r>
            <a:r>
              <a:rPr lang="en-GB" dirty="0">
                <a:solidFill>
                  <a:schemeClr val="bg1"/>
                </a:solidFill>
                <a:ea typeface="Arial"/>
                <a:cs typeface="Arial"/>
                <a:sym typeface="Arial"/>
              </a:rPr>
              <a:t>Enhance detection using advanced models beyond </a:t>
            </a:r>
            <a:r>
              <a:rPr lang="en-GB" dirty="0" err="1">
                <a:solidFill>
                  <a:schemeClr val="bg1"/>
                </a:solidFill>
                <a:ea typeface="Arial"/>
                <a:cs typeface="Arial"/>
                <a:sym typeface="Arial"/>
              </a:rPr>
              <a:t>Ultralytics</a:t>
            </a:r>
            <a:r>
              <a:rPr lang="en-GB" dirty="0">
                <a:solidFill>
                  <a:schemeClr val="bg1"/>
                </a:solidFill>
                <a:ea typeface="Arial"/>
                <a:cs typeface="Arial"/>
                <a:sym typeface="Arial"/>
              </a:rPr>
              <a:t> YOLO</a:t>
            </a:r>
            <a:br>
              <a:rPr lang="en-GB" dirty="0">
                <a:solidFill>
                  <a:schemeClr val="bg1"/>
                </a:solidFill>
                <a:ea typeface="Arial"/>
                <a:cs typeface="Arial"/>
                <a:sym typeface="Arial"/>
              </a:rPr>
            </a:br>
            <a:endParaRPr lang="en-GB" dirty="0">
              <a:solidFill>
                <a:schemeClr val="bg1"/>
              </a:solidFill>
              <a:ea typeface="Arial"/>
              <a:cs typeface="Arial"/>
              <a:sym typeface="Arial"/>
            </a:endParaRPr>
          </a:p>
          <a:p>
            <a:pPr marL="457200" lvl="0" indent="-318611">
              <a:lnSpc>
                <a:spcPct val="95000"/>
              </a:lnSpc>
              <a:buClr>
                <a:srgbClr val="000000"/>
              </a:buClr>
              <a:buSzPts val="1418"/>
              <a:buFont typeface="Arial"/>
              <a:buChar char="●"/>
            </a:pPr>
            <a:r>
              <a:rPr lang="en-GB" b="1" dirty="0">
                <a:solidFill>
                  <a:schemeClr val="bg1"/>
                </a:solidFill>
                <a:ea typeface="Arial"/>
                <a:cs typeface="Arial"/>
                <a:sym typeface="Arial"/>
              </a:rPr>
              <a:t>Wearable + Vision Hybrid System:   </a:t>
            </a:r>
            <a:r>
              <a:rPr lang="en-GB" dirty="0">
                <a:solidFill>
                  <a:schemeClr val="bg1"/>
                </a:solidFill>
                <a:ea typeface="Arial"/>
                <a:cs typeface="Arial"/>
                <a:sym typeface="Arial"/>
              </a:rPr>
              <a:t> Combine sensors with camera-based detection for better reliability</a:t>
            </a:r>
            <a:endParaRPr lang="en-GB" sz="2800" dirty="0">
              <a:solidFill>
                <a:schemeClr val="bg1"/>
              </a:solidFill>
            </a:endParaRPr>
          </a:p>
        </p:txBody>
      </p:sp>
    </p:spTree>
    <p:extLst>
      <p:ext uri="{BB962C8B-B14F-4D97-AF65-F5344CB8AC3E}">
        <p14:creationId xmlns:p14="http://schemas.microsoft.com/office/powerpoint/2010/main" val="1992693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9DB2-EFC9-F7D8-F205-4FD7B7AC944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C6756AE-486D-17D9-2C69-714AB5991BC0}"/>
              </a:ext>
            </a:extLst>
          </p:cNvPr>
          <p:cNvSpPr>
            <a:spLocks noGrp="1"/>
          </p:cNvSpPr>
          <p:nvPr>
            <p:ph type="title"/>
          </p:nvPr>
        </p:nvSpPr>
        <p:spPr>
          <a:xfrm>
            <a:off x="444500" y="542925"/>
            <a:ext cx="11214100" cy="535531"/>
          </a:xfrm>
        </p:spPr>
        <p:txBody>
          <a:bodyPr/>
          <a:lstStyle/>
          <a:p>
            <a:r>
              <a:rPr lang="en-GB" dirty="0"/>
              <a:t>Conclusion</a:t>
            </a:r>
            <a:endParaRPr lang="en-US" dirty="0"/>
          </a:p>
        </p:txBody>
      </p:sp>
      <p:sp>
        <p:nvSpPr>
          <p:cNvPr id="2" name="Slide Number Placeholder 1">
            <a:extLst>
              <a:ext uri="{FF2B5EF4-FFF2-40B4-BE49-F238E27FC236}">
                <a16:creationId xmlns:a16="http://schemas.microsoft.com/office/drawing/2014/main" id="{39F63770-833A-94DD-7E15-26462BA1D3CA}"/>
              </a:ext>
            </a:extLst>
          </p:cNvPr>
          <p:cNvSpPr>
            <a:spLocks noGrp="1"/>
          </p:cNvSpPr>
          <p:nvPr>
            <p:ph type="sldNum" sz="quarter" idx="12"/>
          </p:nvPr>
        </p:nvSpPr>
        <p:spPr/>
        <p:txBody>
          <a:bodyPr/>
          <a:lstStyle/>
          <a:p>
            <a:fld id="{C263D6C4-4840-40CC-AC84-17E24B3B7BDE}" type="slidenum">
              <a:rPr lang="en-US" smtClean="0"/>
              <a:pPr/>
              <a:t>28</a:t>
            </a:fld>
            <a:endParaRPr lang="en-US" dirty="0"/>
          </a:p>
        </p:txBody>
      </p:sp>
      <p:sp>
        <p:nvSpPr>
          <p:cNvPr id="6" name="TextBox 5">
            <a:extLst>
              <a:ext uri="{FF2B5EF4-FFF2-40B4-BE49-F238E27FC236}">
                <a16:creationId xmlns:a16="http://schemas.microsoft.com/office/drawing/2014/main" id="{F55A030B-30A2-7343-4BA4-513F79B19F28}"/>
              </a:ext>
            </a:extLst>
          </p:cNvPr>
          <p:cNvSpPr txBox="1"/>
          <p:nvPr/>
        </p:nvSpPr>
        <p:spPr>
          <a:xfrm>
            <a:off x="796413" y="1486061"/>
            <a:ext cx="8308258" cy="3447098"/>
          </a:xfrm>
          <a:prstGeom prst="rect">
            <a:avLst/>
          </a:prstGeom>
          <a:noFill/>
        </p:spPr>
        <p:txBody>
          <a:bodyPr wrap="square">
            <a:spAutoFit/>
          </a:bodyPr>
          <a:lstStyle/>
          <a:p>
            <a:pPr lvl="0">
              <a:spcBef>
                <a:spcPts val="1200"/>
              </a:spcBef>
            </a:pPr>
            <a:r>
              <a:rPr lang="en-US" dirty="0">
                <a:solidFill>
                  <a:schemeClr val="bg1"/>
                </a:solidFill>
              </a:rPr>
              <a:t>The proposed IoT-based fall detection system provides an effective solution for monitoring and ensuring the safety of elderly individuals and patients. By integrating Artificial Intelligence and IoT technologies, the system is capable of detecting falls in real time and generating immediate alerts.</a:t>
            </a:r>
          </a:p>
          <a:p>
            <a:pPr lvl="0">
              <a:spcBef>
                <a:spcPts val="1200"/>
              </a:spcBef>
            </a:pPr>
            <a:r>
              <a:rPr lang="en-US" dirty="0">
                <a:solidFill>
                  <a:schemeClr val="bg1"/>
                </a:solidFill>
              </a:rPr>
              <a:t>The use of advanced models like </a:t>
            </a:r>
            <a:r>
              <a:rPr lang="en-US" dirty="0" err="1">
                <a:solidFill>
                  <a:schemeClr val="bg1"/>
                </a:solidFill>
              </a:rPr>
              <a:t>Ultralytics</a:t>
            </a:r>
            <a:r>
              <a:rPr lang="en-US" dirty="0">
                <a:solidFill>
                  <a:schemeClr val="bg1"/>
                </a:solidFill>
              </a:rPr>
              <a:t> YOLO improves the accuracy of detection, while IoT modules such as ESP32 enable fast communication and alert delivery.</a:t>
            </a:r>
          </a:p>
          <a:p>
            <a:pPr lvl="0">
              <a:spcBef>
                <a:spcPts val="1200"/>
              </a:spcBef>
            </a:pPr>
            <a:r>
              <a:rPr lang="en-US" dirty="0">
                <a:solidFill>
                  <a:schemeClr val="bg1"/>
                </a:solidFill>
              </a:rPr>
              <a:t>Overall, the system reduces response time during emergencies, minimizes risks, and enhances independent living. This project demonstrates how smart technologies can be applied in healthcare to create safer and more reliable monitoring systems</a:t>
            </a:r>
            <a:endParaRPr lang="en-GB" sz="2800" dirty="0">
              <a:solidFill>
                <a:schemeClr val="bg1"/>
              </a:solidFill>
            </a:endParaRPr>
          </a:p>
        </p:txBody>
      </p:sp>
    </p:spTree>
    <p:extLst>
      <p:ext uri="{BB962C8B-B14F-4D97-AF65-F5344CB8AC3E}">
        <p14:creationId xmlns:p14="http://schemas.microsoft.com/office/powerpoint/2010/main" val="2443438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BDC32-C6D8-D82A-C072-BFBA63496CC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4A97DAD-7CA2-E514-6DC3-8958F0815A74}"/>
              </a:ext>
            </a:extLst>
          </p:cNvPr>
          <p:cNvSpPr>
            <a:spLocks noGrp="1"/>
          </p:cNvSpPr>
          <p:nvPr>
            <p:ph type="title"/>
          </p:nvPr>
        </p:nvSpPr>
        <p:spPr>
          <a:xfrm>
            <a:off x="444500" y="542925"/>
            <a:ext cx="11214100" cy="535531"/>
          </a:xfrm>
        </p:spPr>
        <p:txBody>
          <a:bodyPr/>
          <a:lstStyle/>
          <a:p>
            <a:r>
              <a:rPr lang="en-GB" dirty="0"/>
              <a:t>References</a:t>
            </a:r>
            <a:endParaRPr lang="en-US" dirty="0"/>
          </a:p>
        </p:txBody>
      </p:sp>
      <p:sp>
        <p:nvSpPr>
          <p:cNvPr id="2" name="Slide Number Placeholder 1">
            <a:extLst>
              <a:ext uri="{FF2B5EF4-FFF2-40B4-BE49-F238E27FC236}">
                <a16:creationId xmlns:a16="http://schemas.microsoft.com/office/drawing/2014/main" id="{A46789BE-11E1-0421-3180-CC913ECCD194}"/>
              </a:ext>
            </a:extLst>
          </p:cNvPr>
          <p:cNvSpPr>
            <a:spLocks noGrp="1"/>
          </p:cNvSpPr>
          <p:nvPr>
            <p:ph type="sldNum" sz="quarter" idx="12"/>
          </p:nvPr>
        </p:nvSpPr>
        <p:spPr/>
        <p:txBody>
          <a:bodyPr/>
          <a:lstStyle/>
          <a:p>
            <a:fld id="{C263D6C4-4840-40CC-AC84-17E24B3B7BDE}" type="slidenum">
              <a:rPr lang="en-US" smtClean="0"/>
              <a:pPr/>
              <a:t>29</a:t>
            </a:fld>
            <a:endParaRPr lang="en-US" dirty="0"/>
          </a:p>
        </p:txBody>
      </p:sp>
      <p:sp>
        <p:nvSpPr>
          <p:cNvPr id="6" name="TextBox 5">
            <a:extLst>
              <a:ext uri="{FF2B5EF4-FFF2-40B4-BE49-F238E27FC236}">
                <a16:creationId xmlns:a16="http://schemas.microsoft.com/office/drawing/2014/main" id="{120869F8-0BDD-2C27-E89A-A2E4D1D1DAB8}"/>
              </a:ext>
            </a:extLst>
          </p:cNvPr>
          <p:cNvSpPr txBox="1"/>
          <p:nvPr/>
        </p:nvSpPr>
        <p:spPr>
          <a:xfrm>
            <a:off x="796413" y="1486061"/>
            <a:ext cx="8308258" cy="3847207"/>
          </a:xfrm>
          <a:prstGeom prst="rect">
            <a:avLst/>
          </a:prstGeom>
          <a:noFill/>
        </p:spPr>
        <p:txBody>
          <a:bodyPr wrap="square">
            <a:spAutoFit/>
          </a:bodyPr>
          <a:lstStyle/>
          <a:p>
            <a:pPr marL="457200" lvl="0" indent="-298450">
              <a:lnSpc>
                <a:spcPct val="150000"/>
              </a:lnSpc>
              <a:buSzPts val="1100"/>
              <a:buFont typeface="Wingdings" panose="05000000000000000000" pitchFamily="2" charset="2"/>
              <a:buChar char="v"/>
            </a:pPr>
            <a:r>
              <a:rPr lang="en-US" dirty="0" err="1">
                <a:solidFill>
                  <a:schemeClr val="bg1"/>
                </a:solidFill>
                <a:ea typeface="Arial"/>
                <a:cs typeface="Arial"/>
                <a:sym typeface="Arial"/>
              </a:rPr>
              <a:t>Ultralytics</a:t>
            </a:r>
            <a:r>
              <a:rPr lang="en-US" dirty="0">
                <a:solidFill>
                  <a:schemeClr val="bg1"/>
                </a:solidFill>
                <a:ea typeface="Arial"/>
                <a:cs typeface="Arial"/>
                <a:sym typeface="Arial"/>
              </a:rPr>
              <a:t> YOLO Documentation</a:t>
            </a:r>
            <a:br>
              <a:rPr lang="en-US" dirty="0">
                <a:solidFill>
                  <a:schemeClr val="bg1"/>
                </a:solidFill>
                <a:ea typeface="Arial"/>
                <a:cs typeface="Arial"/>
                <a:sym typeface="Arial"/>
              </a:rPr>
            </a:br>
            <a:r>
              <a:rPr lang="en-US" u="sng" dirty="0">
                <a:solidFill>
                  <a:schemeClr val="bg1"/>
                </a:solidFill>
                <a:ea typeface="Arial"/>
                <a:cs typeface="Arial"/>
                <a:sym typeface="Arial"/>
                <a:hlinkClick r:id="rId2">
                  <a:extLst>
                    <a:ext uri="{A12FA001-AC4F-418D-AE19-62706E023703}">
                      <ahyp:hlinkClr xmlns:ahyp="http://schemas.microsoft.com/office/drawing/2018/hyperlinkcolor" val="tx"/>
                    </a:ext>
                  </a:extLst>
                </a:hlinkClick>
              </a:rPr>
              <a:t>https://docs.ultralytics.com</a:t>
            </a:r>
            <a:endParaRPr lang="en-US" u="sng" dirty="0">
              <a:solidFill>
                <a:schemeClr val="bg1"/>
              </a:solidFill>
              <a:ea typeface="Arial"/>
              <a:cs typeface="Arial"/>
              <a:sym typeface="Arial"/>
            </a:endParaRPr>
          </a:p>
          <a:p>
            <a:pPr marL="457200" lvl="0" indent="-298450">
              <a:lnSpc>
                <a:spcPct val="150000"/>
              </a:lnSpc>
              <a:buSzPts val="1100"/>
              <a:buFont typeface="Wingdings" panose="05000000000000000000" pitchFamily="2" charset="2"/>
              <a:buChar char="v"/>
            </a:pPr>
            <a:r>
              <a:rPr lang="en-US" dirty="0">
                <a:solidFill>
                  <a:schemeClr val="bg1"/>
                </a:solidFill>
                <a:ea typeface="Arial"/>
                <a:cs typeface="Arial"/>
                <a:sym typeface="Arial"/>
              </a:rPr>
              <a:t>OpenCV Documentation</a:t>
            </a:r>
            <a:br>
              <a:rPr lang="en-US" dirty="0">
                <a:solidFill>
                  <a:schemeClr val="bg1"/>
                </a:solidFill>
                <a:ea typeface="Arial"/>
                <a:cs typeface="Arial"/>
                <a:sym typeface="Arial"/>
              </a:rPr>
            </a:br>
            <a:r>
              <a:rPr lang="en-US" u="sng" dirty="0">
                <a:solidFill>
                  <a:schemeClr val="bg1"/>
                </a:solidFill>
                <a:ea typeface="Arial"/>
                <a:cs typeface="Arial"/>
                <a:sym typeface="Arial"/>
                <a:hlinkClick r:id="rId3">
                  <a:extLst>
                    <a:ext uri="{A12FA001-AC4F-418D-AE19-62706E023703}">
                      <ahyp:hlinkClr xmlns:ahyp="http://schemas.microsoft.com/office/drawing/2018/hyperlinkcolor" val="tx"/>
                    </a:ext>
                  </a:extLst>
                </a:hlinkClick>
              </a:rPr>
              <a:t>https://opencv.org</a:t>
            </a:r>
            <a:endParaRPr lang="en-US" u="sng" dirty="0">
              <a:solidFill>
                <a:schemeClr val="bg1"/>
              </a:solidFill>
              <a:ea typeface="Arial"/>
              <a:cs typeface="Arial"/>
              <a:sym typeface="Arial"/>
            </a:endParaRPr>
          </a:p>
          <a:p>
            <a:pPr marL="457200" lvl="0" indent="-298450">
              <a:lnSpc>
                <a:spcPct val="150000"/>
              </a:lnSpc>
              <a:buSzPts val="1100"/>
              <a:buFont typeface="Wingdings" panose="05000000000000000000" pitchFamily="2" charset="2"/>
              <a:buChar char="v"/>
            </a:pPr>
            <a:r>
              <a:rPr lang="en-US" dirty="0" err="1">
                <a:solidFill>
                  <a:schemeClr val="bg1"/>
                </a:solidFill>
                <a:ea typeface="Arial"/>
                <a:cs typeface="Arial"/>
                <a:sym typeface="Arial"/>
              </a:rPr>
              <a:t>Roboflow</a:t>
            </a:r>
            <a:br>
              <a:rPr lang="en-US" dirty="0">
                <a:solidFill>
                  <a:schemeClr val="bg1"/>
                </a:solidFill>
                <a:ea typeface="Arial"/>
                <a:cs typeface="Arial"/>
                <a:sym typeface="Arial"/>
              </a:rPr>
            </a:br>
            <a:r>
              <a:rPr lang="en-US" u="sng" dirty="0">
                <a:solidFill>
                  <a:schemeClr val="bg1"/>
                </a:solidFill>
                <a:ea typeface="Arial"/>
                <a:cs typeface="Arial"/>
                <a:sym typeface="Arial"/>
                <a:hlinkClick r:id="rId4">
                  <a:extLst>
                    <a:ext uri="{A12FA001-AC4F-418D-AE19-62706E023703}">
                      <ahyp:hlinkClr xmlns:ahyp="http://schemas.microsoft.com/office/drawing/2018/hyperlinkcolor" val="tx"/>
                    </a:ext>
                  </a:extLst>
                </a:hlinkClick>
              </a:rPr>
              <a:t>https://roboflow.com</a:t>
            </a:r>
            <a:endParaRPr lang="en-US" u="sng" dirty="0">
              <a:solidFill>
                <a:schemeClr val="bg1"/>
              </a:solidFill>
              <a:ea typeface="Arial"/>
              <a:cs typeface="Arial"/>
              <a:sym typeface="Arial"/>
            </a:endParaRPr>
          </a:p>
          <a:p>
            <a:pPr marL="457200" lvl="0" indent="-298450">
              <a:lnSpc>
                <a:spcPct val="150000"/>
              </a:lnSpc>
              <a:buSzPts val="1100"/>
              <a:buFont typeface="Wingdings" panose="05000000000000000000" pitchFamily="2" charset="2"/>
              <a:buChar char="v"/>
            </a:pPr>
            <a:r>
              <a:rPr lang="en-US" dirty="0">
                <a:solidFill>
                  <a:schemeClr val="bg1"/>
                </a:solidFill>
                <a:ea typeface="Arial"/>
                <a:cs typeface="Arial"/>
                <a:sym typeface="Arial"/>
              </a:rPr>
              <a:t>Open Images Dataset</a:t>
            </a:r>
            <a:br>
              <a:rPr lang="en-US" dirty="0">
                <a:solidFill>
                  <a:schemeClr val="bg1"/>
                </a:solidFill>
                <a:ea typeface="Arial"/>
                <a:cs typeface="Arial"/>
                <a:sym typeface="Arial"/>
              </a:rPr>
            </a:br>
            <a:r>
              <a:rPr lang="en-US" u="sng" dirty="0">
                <a:solidFill>
                  <a:schemeClr val="bg1"/>
                </a:solidFill>
                <a:ea typeface="Arial"/>
                <a:cs typeface="Arial"/>
                <a:sym typeface="Arial"/>
                <a:hlinkClick r:id="rId5">
                  <a:extLst>
                    <a:ext uri="{A12FA001-AC4F-418D-AE19-62706E023703}">
                      <ahyp:hlinkClr xmlns:ahyp="http://schemas.microsoft.com/office/drawing/2018/hyperlinkcolor" val="tx"/>
                    </a:ext>
                  </a:extLst>
                </a:hlinkClick>
              </a:rPr>
              <a:t>https://storage.googleapis.com/openimages/web/index.html</a:t>
            </a:r>
            <a:endParaRPr lang="en-US" u="sng" dirty="0">
              <a:solidFill>
                <a:schemeClr val="bg1"/>
              </a:solidFill>
              <a:ea typeface="Arial"/>
              <a:cs typeface="Arial"/>
              <a:sym typeface="Arial"/>
            </a:endParaRPr>
          </a:p>
          <a:p>
            <a:pPr lvl="0">
              <a:spcBef>
                <a:spcPts val="1200"/>
              </a:spcBef>
              <a:spcAft>
                <a:spcPts val="1200"/>
              </a:spcAft>
            </a:pPr>
            <a:endParaRPr lang="en-US" dirty="0">
              <a:solidFill>
                <a:schemeClr val="bg1"/>
              </a:solidFill>
            </a:endParaRPr>
          </a:p>
        </p:txBody>
      </p:sp>
    </p:spTree>
    <p:extLst>
      <p:ext uri="{BB962C8B-B14F-4D97-AF65-F5344CB8AC3E}">
        <p14:creationId xmlns:p14="http://schemas.microsoft.com/office/powerpoint/2010/main" val="101542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Thank You</a:t>
            </a:r>
            <a:endParaRPr lang="en-GB" dirty="0"/>
          </a:p>
        </p:txBody>
      </p:sp>
    </p:spTree>
    <p:extLst>
      <p:ext uri="{BB962C8B-B14F-4D97-AF65-F5344CB8AC3E}">
        <p14:creationId xmlns:p14="http://schemas.microsoft.com/office/powerpoint/2010/main" val="429771863"/>
      </p:ext>
    </p:extLst>
  </p:cSld>
  <p:clrMapOvr>
    <a:masterClrMapping/>
  </p:clrMapOvr>
  <p:transition spd="slow">
    <p:wipe/>
  </p:transition>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2.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643</TotalTime>
  <Words>1586</Words>
  <Application>Microsoft Office PowerPoint</Application>
  <PresentationFormat>Widescreen</PresentationFormat>
  <Paragraphs>236</Paragraphs>
  <Slides>30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Arial</vt:lpstr>
      <vt:lpstr>Calibri</vt:lpstr>
      <vt:lpstr>Google Sans Text</vt:lpstr>
      <vt:lpstr>Times New Roman</vt:lpstr>
      <vt:lpstr>Trade Gothic LT Pro</vt:lpstr>
      <vt:lpstr>Trebuchet MS</vt:lpstr>
      <vt:lpstr>Wingdings</vt:lpstr>
      <vt:lpstr>Office Theme</vt:lpstr>
      <vt:lpstr> FALL DETECTION SYSTEM USING DEEPLEARNING</vt:lpstr>
      <vt:lpstr>AGENDA</vt:lpstr>
      <vt:lpstr>INTRODUCTION</vt:lpstr>
      <vt:lpstr>Problem Statement</vt:lpstr>
      <vt:lpstr> Existing System</vt:lpstr>
      <vt:lpstr>Limitations of Existing Systems</vt:lpstr>
      <vt:lpstr>Proposed System</vt:lpstr>
      <vt:lpstr>Dataset Used</vt:lpstr>
      <vt:lpstr>Workflow </vt:lpstr>
      <vt:lpstr>workflow</vt:lpstr>
      <vt:lpstr>Contd…</vt:lpstr>
      <vt:lpstr>Data Flow</vt:lpstr>
      <vt:lpstr>Hardware Components</vt:lpstr>
      <vt:lpstr>Software Components</vt:lpstr>
      <vt:lpstr>Circuit Diagram</vt:lpstr>
      <vt:lpstr>The YOLO11 Detection Pipeline</vt:lpstr>
      <vt:lpstr>The YOLO11 Detection Pipeline</vt:lpstr>
      <vt:lpstr>Executive Summary</vt:lpstr>
      <vt:lpstr>Results</vt:lpstr>
      <vt:lpstr>Results</vt:lpstr>
      <vt:lpstr>Results</vt:lpstr>
      <vt:lpstr>Results</vt:lpstr>
      <vt:lpstr>Results</vt:lpstr>
      <vt:lpstr>Advantages</vt:lpstr>
      <vt:lpstr>Limitations</vt:lpstr>
      <vt:lpstr>Applications</vt:lpstr>
      <vt:lpstr>Future Enhancements</vt:lpstr>
      <vt:lpstr>Conclusion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Deepu P</dc:creator>
  <cp:lastModifiedBy>Deepu P</cp:lastModifiedBy>
  <cp:revision>14</cp:revision>
  <dcterms:created xsi:type="dcterms:W3CDTF">2026-03-20T13:39:59Z</dcterms:created>
  <dcterms:modified xsi:type="dcterms:W3CDTF">2026-03-26T08:05:21Z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